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10" r:id="rId2"/>
    <p:sldId id="258" r:id="rId3"/>
    <p:sldId id="311" r:id="rId4"/>
    <p:sldId id="312" r:id="rId5"/>
    <p:sldId id="313" r:id="rId6"/>
    <p:sldId id="314" r:id="rId7"/>
    <p:sldId id="315" r:id="rId8"/>
    <p:sldId id="316" r:id="rId9"/>
    <p:sldId id="317" r:id="rId10"/>
    <p:sldId id="318" r:id="rId11"/>
    <p:sldId id="319" r:id="rId12"/>
    <p:sldId id="320" r:id="rId13"/>
    <p:sldId id="321" r:id="rId14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372" autoAdjust="0"/>
  </p:normalViewPr>
  <p:slideViewPr>
    <p:cSldViewPr snapToGrid="0">
      <p:cViewPr varScale="1">
        <p:scale>
          <a:sx n="89" d="100"/>
          <a:sy n="89" d="100"/>
        </p:scale>
        <p:origin x="466" y="86"/>
      </p:cViewPr>
      <p:guideLst>
        <p:guide orient="horz" pos="2160"/>
        <p:guide pos="3840"/>
      </p:guideLst>
    </p:cSldViewPr>
  </p:slid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141CB8B-9A0B-4789-AA16-21FD85562D02}" type="datetimeFigureOut">
              <a:rPr lang="en-US"/>
              <a:pPr>
                <a:defRPr/>
              </a:pPr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6D7AF74-2339-4E63-B715-1FF6BBDB8B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8232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AD0836-F5EF-429E-9CA7-34269BB16BEB}" type="datetimeFigureOut">
              <a:rPr lang="en-US"/>
              <a:pPr>
                <a:defRPr/>
              </a:pPr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347E34-9B8B-4DC4-B3D1-5FF64A7D9D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7A05AD-15BE-4008-AEEA-D7FA977D7B1C}" type="datetimeFigureOut">
              <a:rPr lang="en-US"/>
              <a:pPr>
                <a:defRPr/>
              </a:pPr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853FA3-E8C3-4724-8AB2-FBD186A14C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2CBAA4-0496-414B-9D0B-352D161D6770}" type="datetimeFigureOut">
              <a:rPr lang="en-US"/>
              <a:pPr>
                <a:defRPr/>
              </a:pPr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E27EC3-5FC3-4FBD-AF27-193773D8B8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C38C6-54BB-4FFC-AFC6-5A36932E5598}" type="datetimeFigureOut">
              <a:rPr lang="en-US"/>
              <a:pPr>
                <a:defRPr/>
              </a:pPr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F60336-55D7-4D83-864A-65378EAC89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DC640A-516A-43F9-B66D-F58070D9E57B}" type="datetimeFigureOut">
              <a:rPr lang="en-US"/>
              <a:pPr>
                <a:defRPr/>
              </a:pPr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0FDFCC-FA33-4AA3-A85A-47B0596F2B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A73D87-571A-4825-B460-5BD534548857}" type="datetimeFigureOut">
              <a:rPr lang="en-US"/>
              <a:pPr>
                <a:defRPr/>
              </a:pPr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A25E56-6828-4F81-A4E1-3F118DCD55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E5BEA6-927D-4820-A050-6663FCF1AC65}" type="datetimeFigureOut">
              <a:rPr lang="en-US"/>
              <a:pPr>
                <a:defRPr/>
              </a:pPr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924FD7-78B4-40D7-8788-C7D56B8313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6E4105-9996-4E9D-B342-4BB880A181A6}" type="datetimeFigureOut">
              <a:rPr lang="en-US"/>
              <a:pPr>
                <a:defRPr/>
              </a:pPr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915FB1-BA12-4819-BA78-4E2819A9F0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104DB3-9FA0-431C-ABDD-AD6E0FFCBAFA}" type="datetimeFigureOut">
              <a:rPr lang="en-US"/>
              <a:pPr>
                <a:defRPr/>
              </a:pPr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3C046C-5611-407F-9948-C525BFEF03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B9C6B6-C766-42C4-91B2-15C37033139C}" type="datetimeFigureOut">
              <a:rPr lang="en-US"/>
              <a:pPr>
                <a:defRPr/>
              </a:pPr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F1864F-690D-4EE0-9C72-E7A489F9B0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48ACD1-E50E-476C-9D7A-857AA16FDB9A}" type="datetimeFigureOut">
              <a:rPr lang="en-US"/>
              <a:pPr>
                <a:defRPr/>
              </a:pPr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D0037F-446A-439D-B171-32C2E9A812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958D706-2828-42C5-9973-E99CCB06544E}" type="datetimeFigureOut">
              <a:rPr lang="en-US"/>
              <a:pPr>
                <a:defRPr/>
              </a:pPr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8F822DE-7756-4CD5-B6F8-E6FB306897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csedeo2\Desktop\Cerficate 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ounded Rectangle 6"/>
          <p:cNvSpPr/>
          <p:nvPr/>
        </p:nvSpPr>
        <p:spPr>
          <a:xfrm>
            <a:off x="1117600" y="2895600"/>
            <a:ext cx="10160000" cy="9906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/>
              <a:t>Batch No: 16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/>
              <a:t>Project Title: </a:t>
            </a:r>
            <a:r>
              <a:rPr lang="en-US" sz="1600" b="1" dirty="0" err="1"/>
              <a:t>FinRAG</a:t>
            </a:r>
            <a:r>
              <a:rPr lang="en-US" sz="1600" b="1" dirty="0"/>
              <a:t> AI - A Unified AI Framework for Financial Risk and Retrieval-Augmented Intelligence 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251265"/>
              </p:ext>
            </p:extLst>
          </p:nvPr>
        </p:nvGraphicFramePr>
        <p:xfrm>
          <a:off x="914400" y="4152280"/>
          <a:ext cx="6604000" cy="178308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97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5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S.No</a:t>
                      </a:r>
                      <a:endParaRPr lang="en-US" sz="1400" i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121920" marR="12192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Reg.No</a:t>
                      </a:r>
                      <a:endParaRPr lang="en-US" sz="1400" i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121920" marR="12192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Student </a:t>
                      </a:r>
                      <a:r>
                        <a:rPr lang="en-US" sz="14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Name</a:t>
                      </a:r>
                      <a:endParaRPr lang="en-US" sz="1400" i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121920" marR="121920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1</a:t>
                      </a:r>
                      <a:endParaRPr lang="en-US" sz="1400" dirty="0"/>
                    </a:p>
                  </a:txBody>
                  <a:tcPr marL="121920" marR="121920"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23A81A4361</a:t>
                      </a:r>
                    </a:p>
                  </a:txBody>
                  <a:tcPr marL="121920" marR="121920"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T. Jitendra Sri</a:t>
                      </a:r>
                    </a:p>
                  </a:txBody>
                  <a:tcPr marL="121920" marR="121920"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2</a:t>
                      </a:r>
                      <a:endParaRPr lang="en-US" sz="1400" dirty="0"/>
                    </a:p>
                  </a:txBody>
                  <a:tcPr marL="121920" marR="121920"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23A81A4314</a:t>
                      </a:r>
                    </a:p>
                  </a:txBody>
                  <a:tcPr marL="121920" marR="121920"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G.UshaRani</a:t>
                      </a:r>
                      <a:r>
                        <a:rPr lang="en-US" sz="1400" dirty="0"/>
                        <a:t> </a:t>
                      </a:r>
                    </a:p>
                  </a:txBody>
                  <a:tcPr marL="121920" marR="121920"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3</a:t>
                      </a:r>
                      <a:endParaRPr lang="en-US" sz="1400" dirty="0"/>
                    </a:p>
                  </a:txBody>
                  <a:tcPr marL="121920" marR="121920"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23A81A4357</a:t>
                      </a:r>
                    </a:p>
                  </a:txBody>
                  <a:tcPr marL="121920" marR="121920"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S.V.M.S.Vishal</a:t>
                      </a:r>
                      <a:endParaRPr lang="en-US" sz="1400" dirty="0"/>
                    </a:p>
                  </a:txBody>
                  <a:tcPr marL="121920" marR="121920"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4</a:t>
                      </a:r>
                      <a:endParaRPr lang="en-US" sz="1400" dirty="0"/>
                    </a:p>
                  </a:txBody>
                  <a:tcPr marL="121920" marR="121920"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23A81A4334</a:t>
                      </a:r>
                    </a:p>
                  </a:txBody>
                  <a:tcPr marL="121920" marR="121920"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M.Charan</a:t>
                      </a:r>
                      <a:r>
                        <a:rPr lang="en-US" sz="1400" dirty="0"/>
                        <a:t> Krishna Varma</a:t>
                      </a:r>
                    </a:p>
                  </a:txBody>
                  <a:tcPr marL="121920" marR="121920"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461897"/>
              </p:ext>
            </p:extLst>
          </p:nvPr>
        </p:nvGraphicFramePr>
        <p:xfrm>
          <a:off x="7940842" y="4924440"/>
          <a:ext cx="3149600" cy="101092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314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Project Guide</a:t>
                      </a:r>
                    </a:p>
                  </a:txBody>
                  <a:tcPr marL="121920" marR="121920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Mr. K. Kalyan, M. Tech. Asst. Prof., Dept. of CSD</a:t>
                      </a:r>
                    </a:p>
                  </a:txBody>
                  <a:tcPr marL="121920" marR="121920"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54" name="Rectangle 15"/>
          <p:cNvSpPr>
            <a:spLocks noChangeArrowheads="1"/>
          </p:cNvSpPr>
          <p:nvPr/>
        </p:nvSpPr>
        <p:spPr bwMode="auto">
          <a:xfrm>
            <a:off x="4102100" y="2209800"/>
            <a:ext cx="59563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Calisto MT" pitchFamily="18" charset="0"/>
              </a:rPr>
              <a:t>               Major Project Review-I</a:t>
            </a:r>
            <a:endParaRPr lang="en-US" sz="2400" dirty="0">
              <a:latin typeface="Calibri" pitchFamily="34" charset="0"/>
            </a:endParaRPr>
          </a:p>
        </p:txBody>
      </p:sp>
      <p:pic>
        <p:nvPicPr>
          <p:cNvPr id="2055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84425" y="1701800"/>
            <a:ext cx="84677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10852151" y="415637"/>
            <a:ext cx="1339850" cy="106839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04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2000" cy="32004"/>
          </a:xfrm>
          <a:prstGeom prst="rect">
            <a:avLst/>
          </a:prstGeom>
          <a:solidFill>
            <a:srgbClr val="17B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565392"/>
            <a:ext cx="11186160" cy="10972"/>
          </a:xfrm>
          <a:prstGeom prst="rect">
            <a:avLst/>
          </a:prstGeom>
          <a:solidFill>
            <a:srgbClr val="CD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1105814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04068"/>
                </a:solidFill>
                <a:latin typeface="Aptos Display"/>
              </a:rPr>
              <a:t>Major Project Review-I —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04672"/>
            <a:ext cx="110215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974"/>
                </a:solidFill>
                <a:latin typeface="Aptos"/>
              </a:rPr>
              <a:t>FinRAG AI | Review-I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74920" cy="621792"/>
          </a:xfrm>
          <a:prstGeom prst="roundRect">
            <a:avLst/>
          </a:prstGeom>
          <a:solidFill>
            <a:srgbClr val="F1F7FB"/>
          </a:solidFill>
          <a:ln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60" y="1435608"/>
            <a:ext cx="384048" cy="384048"/>
          </a:xfrm>
          <a:prstGeom prst="ellipse">
            <a:avLst/>
          </a:prstGeom>
          <a:solidFill>
            <a:srgbClr val="00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 dirty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1444752"/>
            <a:ext cx="4206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068"/>
                </a:solidFill>
                <a:latin typeface="Aptos"/>
              </a:rPr>
              <a:t>Abstract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074920" cy="621792"/>
          </a:xfrm>
          <a:prstGeom prst="roundRect">
            <a:avLst/>
          </a:prstGeom>
          <a:solidFill>
            <a:srgbClr val="F1F7FB"/>
          </a:solidFill>
          <a:ln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355080" y="1435608"/>
            <a:ext cx="384048" cy="384048"/>
          </a:xfrm>
          <a:prstGeom prst="ellipse">
            <a:avLst/>
          </a:prstGeom>
          <a:solidFill>
            <a:srgbClr val="00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 dirty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6288" y="1444752"/>
            <a:ext cx="4206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068"/>
                </a:solidFill>
                <a:latin typeface="Aptos"/>
              </a:rPr>
              <a:t>Introduction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112264"/>
            <a:ext cx="5074920" cy="621792"/>
          </a:xfrm>
          <a:prstGeom prst="roundRect">
            <a:avLst/>
          </a:prstGeom>
          <a:solidFill>
            <a:srgbClr val="F1F7FB"/>
          </a:solidFill>
          <a:ln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2960" y="2221992"/>
            <a:ext cx="384048" cy="384048"/>
          </a:xfrm>
          <a:prstGeom prst="ellipse">
            <a:avLst/>
          </a:prstGeom>
          <a:solidFill>
            <a:srgbClr val="00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 dirty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231136"/>
            <a:ext cx="4206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068"/>
                </a:solidFill>
                <a:latin typeface="Aptos"/>
              </a:rPr>
              <a:t>Literature Survey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112264"/>
            <a:ext cx="5074920" cy="621792"/>
          </a:xfrm>
          <a:prstGeom prst="roundRect">
            <a:avLst/>
          </a:prstGeom>
          <a:solidFill>
            <a:srgbClr val="F1F7FB"/>
          </a:solidFill>
          <a:ln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355080" y="2221992"/>
            <a:ext cx="384048" cy="384048"/>
          </a:xfrm>
          <a:prstGeom prst="ellipse">
            <a:avLst/>
          </a:prstGeom>
          <a:solidFill>
            <a:srgbClr val="00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 dirty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2231136"/>
            <a:ext cx="4206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068"/>
                </a:solidFill>
                <a:latin typeface="Aptos"/>
              </a:rPr>
              <a:t>Problem Statement in Existing System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898648"/>
            <a:ext cx="5074920" cy="621792"/>
          </a:xfrm>
          <a:prstGeom prst="roundRect">
            <a:avLst/>
          </a:prstGeom>
          <a:solidFill>
            <a:srgbClr val="F1F7FB"/>
          </a:solidFill>
          <a:ln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2960" y="3008376"/>
            <a:ext cx="384048" cy="384048"/>
          </a:xfrm>
          <a:prstGeom prst="ellipse">
            <a:avLst/>
          </a:prstGeom>
          <a:solidFill>
            <a:srgbClr val="00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 dirty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3017520"/>
            <a:ext cx="4206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068"/>
                </a:solidFill>
                <a:latin typeface="Aptos"/>
              </a:rPr>
              <a:t>Proposed System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898648"/>
            <a:ext cx="5074920" cy="621792"/>
          </a:xfrm>
          <a:prstGeom prst="roundRect">
            <a:avLst/>
          </a:prstGeom>
          <a:solidFill>
            <a:srgbClr val="F1F7FB"/>
          </a:solidFill>
          <a:ln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55080" y="3008376"/>
            <a:ext cx="384048" cy="384048"/>
          </a:xfrm>
          <a:prstGeom prst="ellipse">
            <a:avLst/>
          </a:prstGeom>
          <a:solidFill>
            <a:srgbClr val="00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 dirty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3017520"/>
            <a:ext cx="4206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068"/>
                </a:solidFill>
                <a:latin typeface="Aptos"/>
              </a:rPr>
              <a:t>Objectives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685032"/>
            <a:ext cx="5074920" cy="621792"/>
          </a:xfrm>
          <a:prstGeom prst="roundRect">
            <a:avLst/>
          </a:prstGeom>
          <a:solidFill>
            <a:srgbClr val="F1F7FB"/>
          </a:solidFill>
          <a:ln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22960" y="3794760"/>
            <a:ext cx="384048" cy="384048"/>
          </a:xfrm>
          <a:prstGeom prst="ellipse">
            <a:avLst/>
          </a:prstGeom>
          <a:solidFill>
            <a:srgbClr val="00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 dirty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03904"/>
            <a:ext cx="4206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068"/>
                </a:solidFill>
                <a:latin typeface="Aptos"/>
              </a:rPr>
              <a:t>Project Domain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685032"/>
            <a:ext cx="5074920" cy="621792"/>
          </a:xfrm>
          <a:prstGeom prst="roundRect">
            <a:avLst/>
          </a:prstGeom>
          <a:solidFill>
            <a:srgbClr val="F1F7FB"/>
          </a:solidFill>
          <a:ln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355080" y="3794760"/>
            <a:ext cx="384048" cy="384048"/>
          </a:xfrm>
          <a:prstGeom prst="ellipse">
            <a:avLst/>
          </a:prstGeom>
          <a:solidFill>
            <a:srgbClr val="00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 dirty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6288" y="3803904"/>
            <a:ext cx="4206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068"/>
                </a:solidFill>
                <a:latin typeface="Aptos"/>
              </a:rPr>
              <a:t>Requirement Analysis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471416"/>
            <a:ext cx="5074920" cy="621792"/>
          </a:xfrm>
          <a:prstGeom prst="roundRect">
            <a:avLst/>
          </a:prstGeom>
          <a:solidFill>
            <a:srgbClr val="F1F7FB"/>
          </a:solidFill>
          <a:ln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22960" y="4581144"/>
            <a:ext cx="384048" cy="384048"/>
          </a:xfrm>
          <a:prstGeom prst="ellipse">
            <a:avLst/>
          </a:prstGeom>
          <a:solidFill>
            <a:srgbClr val="00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 dirty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44168" y="4590288"/>
            <a:ext cx="4206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068"/>
                </a:solidFill>
                <a:latin typeface="Aptos"/>
              </a:rPr>
              <a:t>System Architecture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471416"/>
            <a:ext cx="5074920" cy="621792"/>
          </a:xfrm>
          <a:prstGeom prst="roundRect">
            <a:avLst/>
          </a:prstGeom>
          <a:solidFill>
            <a:srgbClr val="F1F7FB"/>
          </a:solidFill>
          <a:ln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355080" y="4581144"/>
            <a:ext cx="384048" cy="384048"/>
          </a:xfrm>
          <a:prstGeom prst="ellipse">
            <a:avLst/>
          </a:prstGeom>
          <a:solidFill>
            <a:srgbClr val="00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rgbClr val="FFFFFF"/>
                </a:solidFill>
                <a:latin typeface="Aptos"/>
              </a:rPr>
              <a:t>1</a:t>
            </a:r>
            <a:r>
              <a:rPr sz="700" b="1" dirty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76288" y="4590288"/>
            <a:ext cx="4206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068"/>
                </a:solidFill>
                <a:latin typeface="Aptos"/>
              </a:rPr>
              <a:t>Methodology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31880" y="6601968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C6974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04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2000" cy="32004"/>
          </a:xfrm>
          <a:prstGeom prst="rect">
            <a:avLst/>
          </a:prstGeom>
          <a:solidFill>
            <a:srgbClr val="17B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" name="Rectangle 3"/>
          <p:cNvSpPr/>
          <p:nvPr/>
        </p:nvSpPr>
        <p:spPr>
          <a:xfrm>
            <a:off x="502920" y="6565392"/>
            <a:ext cx="11186160" cy="10972"/>
          </a:xfrm>
          <a:prstGeom prst="rect">
            <a:avLst/>
          </a:prstGeom>
          <a:solidFill>
            <a:srgbClr val="CD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93031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04068"/>
                </a:solidFill>
                <a:latin typeface="Aptos Display"/>
              </a:rPr>
              <a:t>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04672"/>
            <a:ext cx="794833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5C6974"/>
                </a:solidFill>
                <a:latin typeface="Aptos"/>
              </a:rPr>
              <a:t>FinRAG AI: evidence-grounded financial question answering and transaction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49690" y="6601968"/>
            <a:ext cx="2936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5C6974"/>
                </a:solidFill>
                <a:latin typeface="Aptos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BED279-F079-06EC-E42A-69FBA0C9CC67}"/>
              </a:ext>
            </a:extLst>
          </p:cNvPr>
          <p:cNvSpPr txBox="1"/>
          <p:nvPr/>
        </p:nvSpPr>
        <p:spPr>
          <a:xfrm>
            <a:off x="517009" y="1261872"/>
            <a:ext cx="10403810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 err="1"/>
              <a:t>FinRAG</a:t>
            </a:r>
            <a:r>
              <a:rPr lang="en-US" sz="1600" dirty="0"/>
              <a:t> AI is an integrated financial intelligence platform designed to provide reliable, evidence-grounded </a:t>
            </a:r>
            <a:br>
              <a:rPr lang="en-US" sz="1600" dirty="0"/>
            </a:br>
            <a:r>
              <a:rPr lang="en-US" sz="1600" dirty="0"/>
              <a:t>answers from complex financial documents. Financial analysts, investors, and compliance professionals often </a:t>
            </a:r>
            <a:br>
              <a:rPr lang="en-US" sz="1600" dirty="0"/>
            </a:br>
            <a:r>
              <a:rPr lang="en-US" sz="1600" dirty="0"/>
              <a:t>spend significant time searching lengthy annual reports, SEC filings, financial statements, and tables for </a:t>
            </a:r>
            <a:br>
              <a:rPr lang="en-US" sz="1600" dirty="0"/>
            </a:br>
            <a:r>
              <a:rPr lang="en-US" sz="1600" dirty="0"/>
              <a:t>relevant information. Traditional keyword search may miss semantic relationships, while standalone large </a:t>
            </a:r>
            <a:br>
              <a:rPr lang="en-US" sz="1600" dirty="0"/>
            </a:br>
            <a:r>
              <a:rPr lang="en-US" sz="1600" dirty="0"/>
              <a:t>language models can generate unsupported or hallucinated responses. The proposed system uses Financial </a:t>
            </a:r>
            <a:br>
              <a:rPr lang="en-US" sz="1600" dirty="0"/>
            </a:br>
            <a:r>
              <a:rPr lang="en-US" sz="1600" dirty="0"/>
              <a:t>Retrieval-Augmented Generation (RAG) to address these challenges. It processes financial documents through </a:t>
            </a:r>
            <a:br>
              <a:rPr lang="en-US" sz="1600" dirty="0"/>
            </a:br>
            <a:r>
              <a:rPr lang="en-US" sz="1600" dirty="0"/>
              <a:t>parsing, metadata-rich and table-aware chunking, embedding, hybrid dense and BM25 retrieval, and </a:t>
            </a:r>
            <a:br>
              <a:rPr lang="en-US" sz="1600" dirty="0"/>
            </a:br>
            <a:r>
              <a:rPr lang="en-US" sz="1600" dirty="0"/>
              <a:t>cross-encoder reranking before generating answers with an LLM. The system further incorporates </a:t>
            </a:r>
            <a:r>
              <a:rPr lang="en-US" sz="1600" dirty="0" err="1"/>
              <a:t>HyDE</a:t>
            </a:r>
            <a:r>
              <a:rPr lang="en-US" sz="1600" dirty="0"/>
              <a:t>-based </a:t>
            </a:r>
            <a:br>
              <a:rPr lang="en-US" sz="1600" dirty="0"/>
            </a:br>
            <a:r>
              <a:rPr lang="en-US" sz="1600" dirty="0"/>
              <a:t>query expansion and multi-hop query decomposition for complex questions. Precise page, section, and table </a:t>
            </a:r>
            <a:br>
              <a:rPr lang="en-US" sz="1600" dirty="0"/>
            </a:br>
            <a:r>
              <a:rPr lang="en-US" sz="1600" dirty="0"/>
              <a:t>citations improve transparency and verification. The framework is also designed for Indian financial documents </a:t>
            </a:r>
            <a:br>
              <a:rPr lang="en-US" sz="1600" dirty="0"/>
            </a:br>
            <a:r>
              <a:rPr lang="en-US" sz="1600" dirty="0"/>
              <a:t>through BSE/NSE sources and integrates transaction intelligence for anomaly detection, risk scoring, and alerts, </a:t>
            </a:r>
            <a:br>
              <a:rPr lang="en-US" sz="1600" dirty="0"/>
            </a:br>
            <a:r>
              <a:rPr lang="en-US" sz="1600" dirty="0"/>
              <a:t>supporting informed human decision-making and compliance investigations. </a:t>
            </a:r>
          </a:p>
          <a:p>
            <a:pPr algn="just"/>
            <a:br>
              <a:rPr lang="en-US" sz="1600" dirty="0"/>
            </a:b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04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2000" cy="32004"/>
          </a:xfrm>
          <a:prstGeom prst="rect">
            <a:avLst/>
          </a:prstGeom>
          <a:solidFill>
            <a:srgbClr val="17B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Rectangle 3"/>
          <p:cNvSpPr/>
          <p:nvPr/>
        </p:nvSpPr>
        <p:spPr>
          <a:xfrm>
            <a:off x="502920" y="6565392"/>
            <a:ext cx="11186160" cy="10972"/>
          </a:xfrm>
          <a:prstGeom prst="rect">
            <a:avLst/>
          </a:prstGeom>
          <a:solidFill>
            <a:srgbClr val="CD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186050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dirty="0">
                <a:solidFill>
                  <a:srgbClr val="104068"/>
                </a:solidFill>
                <a:latin typeface="Aptos Display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04672"/>
            <a:ext cx="387849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974"/>
                </a:solidFill>
                <a:latin typeface="Aptos"/>
              </a:rPr>
              <a:t>Why a domain-specific financial RAG system is required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76941" y="6601968"/>
            <a:ext cx="2664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C6974"/>
                </a:solidFill>
                <a:latin typeface="Aptos"/>
              </a:rPr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131952-2ABF-6B11-C95C-660870D89FD5}"/>
              </a:ext>
            </a:extLst>
          </p:cNvPr>
          <p:cNvSpPr txBox="1"/>
          <p:nvPr/>
        </p:nvSpPr>
        <p:spPr>
          <a:xfrm>
            <a:off x="585216" y="1450890"/>
            <a:ext cx="10669575" cy="4109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The project aims to develop </a:t>
            </a:r>
            <a:r>
              <a:rPr lang="en-US" sz="1600" b="1" dirty="0" err="1"/>
              <a:t>FinRAG</a:t>
            </a:r>
            <a:r>
              <a:rPr lang="en-US" sz="1600" b="1" dirty="0"/>
              <a:t> AI</a:t>
            </a:r>
            <a:r>
              <a:rPr lang="en-US" sz="1600" dirty="0"/>
              <a:t>, an intelligent financial question-answering platform that uses Retrieval-Augmented Generation (RAG) to provide accurate, evidence-grounded responses from complex financial documents such as annual reports, SEC filings, and financial statements. Traditional keyword-based search can miss semantic relationships, while standalone Large Language Models (LLMs) may generate unsupported or hallucinated information. </a:t>
            </a:r>
            <a:r>
              <a:rPr lang="en-US" sz="1600" dirty="0" err="1"/>
              <a:t>FinRAG</a:t>
            </a:r>
            <a:r>
              <a:rPr lang="en-US" sz="1600" dirty="0"/>
              <a:t> AI addresses these challenges through document parsing, metadata-rich and table-aware chunking, dense and BM25 hybrid retrieval, cross-encoder reranking, and LLM-based answer generation. The system also supports complex multi-hop queries through query decomposition and improves retrieval using </a:t>
            </a:r>
            <a:r>
              <a:rPr lang="en-US" sz="1600" dirty="0" err="1"/>
              <a:t>HyDE</a:t>
            </a:r>
            <a:r>
              <a:rPr lang="en-US" sz="1600" dirty="0"/>
              <a:t>-based query expansion. To enhance transparency, answers are supported with precise page, section, and table-level citations. The proposed framework can also be extended to Indian financial documents through BSE/NSE sources and integrated with transaction intelligence for anomaly detection, risk scoring, and alerts, enabling efficient and informed financial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04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2000" cy="32004"/>
          </a:xfrm>
          <a:prstGeom prst="rect">
            <a:avLst/>
          </a:prstGeom>
          <a:solidFill>
            <a:srgbClr val="17B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565392"/>
            <a:ext cx="11186160" cy="10972"/>
          </a:xfrm>
          <a:prstGeom prst="rect">
            <a:avLst/>
          </a:prstGeom>
          <a:solidFill>
            <a:srgbClr val="CD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1105814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dirty="0">
                <a:solidFill>
                  <a:srgbClr val="104068"/>
                </a:solidFill>
                <a:latin typeface="Aptos Display"/>
              </a:rPr>
              <a:t>Literature Survey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04672"/>
            <a:ext cx="110215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974"/>
                </a:solidFill>
                <a:latin typeface="Aptos"/>
              </a:rPr>
              <a:t>Base paper, datasets and technical foundation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88720"/>
            <a:ext cx="6720840" cy="1965960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188720"/>
            <a:ext cx="73152" cy="1965960"/>
          </a:xfrm>
          <a:prstGeom prst="rect">
            <a:avLst/>
          </a:prstGeom>
          <a:solidFill>
            <a:srgbClr val="00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298448"/>
            <a:ext cx="109754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04068"/>
                </a:solidFill>
                <a:latin typeface="Aptos"/>
              </a:rPr>
              <a:t>Base Paper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719072"/>
            <a:ext cx="6336792" cy="14465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30">
                <a:solidFill>
                  <a:srgbClr val="232B32"/>
                </a:solidFill>
                <a:latin typeface="Aptos"/>
              </a:defRPr>
            </a:pPr>
            <a:r>
              <a:rPr sz="1400"/>
              <a:t>•  Title: “Metadata-Driven Retrieval-Augmented Generation for Financial Question Answering.”</a:t>
            </a:r>
          </a:p>
          <a:p>
            <a:pPr>
              <a:spcAft>
                <a:spcPts val="400"/>
              </a:spcAft>
              <a:defRPr sz="1030">
                <a:solidFill>
                  <a:srgbClr val="232B32"/>
                </a:solidFill>
                <a:latin typeface="Aptos"/>
              </a:defRPr>
            </a:pPr>
            <a:r>
              <a:rPr sz="1400"/>
              <a:t>•  Authors: Michail Dadopoulos, Anestis Ladas, Stratos Moschidis and Ioannis Negkakis.</a:t>
            </a:r>
          </a:p>
          <a:p>
            <a:pPr>
              <a:spcAft>
                <a:spcPts val="400"/>
              </a:spcAft>
              <a:defRPr sz="1030">
                <a:solidFill>
                  <a:srgbClr val="232B32"/>
                </a:solidFill>
                <a:latin typeface="Aptos"/>
              </a:defRPr>
            </a:pPr>
            <a:r>
              <a:rPr sz="1400"/>
              <a:t>•  2025 arXiv preprint • arXiv:2510.24402.</a:t>
            </a:r>
          </a:p>
          <a:p>
            <a:pPr>
              <a:spcAft>
                <a:spcPts val="400"/>
              </a:spcAft>
              <a:defRPr sz="1030">
                <a:solidFill>
                  <a:srgbClr val="232B32"/>
                </a:solidFill>
                <a:latin typeface="Aptos"/>
              </a:defRPr>
            </a:pPr>
            <a:r>
              <a:rPr sz="1400"/>
              <a:t>•  Core idea: metadata-driven, multi-stage RAG for financial QA.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188720"/>
            <a:ext cx="4023360" cy="1965960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543800" y="1188720"/>
            <a:ext cx="73152" cy="1965960"/>
          </a:xfrm>
          <a:prstGeom prst="rect">
            <a:avLst/>
          </a:prstGeom>
          <a:solidFill>
            <a:srgbClr val="17B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44968" y="1298448"/>
            <a:ext cx="182530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04068"/>
                </a:solidFill>
                <a:latin typeface="Aptos"/>
              </a:rPr>
              <a:t>Base-Paper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4968" y="1719072"/>
            <a:ext cx="3639312" cy="10156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30">
                <a:solidFill>
                  <a:srgbClr val="232B32"/>
                </a:solidFill>
                <a:latin typeface="Aptos"/>
              </a:defRPr>
            </a:pPr>
            <a:r>
              <a:rPr sz="1400"/>
              <a:t>•  LLM-generated document/chunk metadata.</a:t>
            </a:r>
          </a:p>
          <a:p>
            <a:pPr>
              <a:spcAft>
                <a:spcPts val="400"/>
              </a:spcAft>
              <a:defRPr sz="1030">
                <a:solidFill>
                  <a:srgbClr val="232B32"/>
                </a:solidFill>
                <a:latin typeface="Aptos"/>
              </a:defRPr>
            </a:pPr>
            <a:r>
              <a:rPr sz="1400"/>
              <a:t>•  Pre-retrieval filtering and query rewriting.</a:t>
            </a:r>
          </a:p>
          <a:p>
            <a:pPr>
              <a:spcAft>
                <a:spcPts val="400"/>
              </a:spcAft>
              <a:defRPr sz="1030">
                <a:solidFill>
                  <a:srgbClr val="232B32"/>
                </a:solidFill>
                <a:latin typeface="Aptos"/>
              </a:defRPr>
            </a:pPr>
            <a:r>
              <a:rPr sz="1400"/>
              <a:t>•  Metadata-enriched embeddings.</a:t>
            </a:r>
          </a:p>
          <a:p>
            <a:pPr>
              <a:spcAft>
                <a:spcPts val="400"/>
              </a:spcAft>
              <a:defRPr sz="1030">
                <a:solidFill>
                  <a:srgbClr val="232B32"/>
                </a:solidFill>
                <a:latin typeface="Aptos"/>
              </a:defRPr>
            </a:pPr>
            <a:r>
              <a:rPr sz="1400"/>
              <a:t>•  Hybrid retrieval + post-retrieval reranking.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429000"/>
            <a:ext cx="3429000" cy="1920240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6" name="Rectangle 15"/>
          <p:cNvSpPr/>
          <p:nvPr/>
        </p:nvSpPr>
        <p:spPr>
          <a:xfrm>
            <a:off x="594360" y="3429000"/>
            <a:ext cx="73152" cy="1920240"/>
          </a:xfrm>
          <a:prstGeom prst="rect">
            <a:avLst/>
          </a:prstGeom>
          <a:solidFill>
            <a:srgbClr val="2B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7" name="TextBox 16"/>
          <p:cNvSpPr txBox="1"/>
          <p:nvPr/>
        </p:nvSpPr>
        <p:spPr>
          <a:xfrm>
            <a:off x="795528" y="3538728"/>
            <a:ext cx="134908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04068"/>
                </a:solidFill>
                <a:latin typeface="Aptos"/>
              </a:rPr>
              <a:t>FinanceBench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3959352"/>
            <a:ext cx="3044952" cy="11798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19">
                <a:solidFill>
                  <a:srgbClr val="232B32"/>
                </a:solidFill>
                <a:latin typeface="Aptos"/>
              </a:defRPr>
            </a:pPr>
            <a:r>
              <a:rPr sz="1400"/>
              <a:t>•  Financial question-answering benchmark.</a:t>
            </a:r>
          </a:p>
          <a:p>
            <a:pPr>
              <a:spcAft>
                <a:spcPts val="400"/>
              </a:spcAft>
              <a:defRPr sz="1019">
                <a:solidFill>
                  <a:srgbClr val="232B32"/>
                </a:solidFill>
                <a:latin typeface="Aptos"/>
              </a:defRPr>
            </a:pPr>
            <a:r>
              <a:rPr sz="1400"/>
              <a:t>•  More than 1,000 financial QA pairs.</a:t>
            </a:r>
          </a:p>
          <a:p>
            <a:pPr>
              <a:spcAft>
                <a:spcPts val="400"/>
              </a:spcAft>
              <a:defRPr sz="1019">
                <a:solidFill>
                  <a:srgbClr val="232B32"/>
                </a:solidFill>
                <a:latin typeface="Aptos"/>
              </a:defRPr>
            </a:pPr>
            <a:r>
              <a:rPr sz="1400"/>
              <a:t>•  Useful for evaluating financial QA accuracy.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87952" y="3429000"/>
            <a:ext cx="3429000" cy="1920240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0" name="Rectangle 19"/>
          <p:cNvSpPr/>
          <p:nvPr/>
        </p:nvSpPr>
        <p:spPr>
          <a:xfrm>
            <a:off x="4187952" y="3429000"/>
            <a:ext cx="73152" cy="1920240"/>
          </a:xfrm>
          <a:prstGeom prst="rect">
            <a:avLst/>
          </a:prstGeom>
          <a:solidFill>
            <a:srgbClr val="2B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1" name="TextBox 20"/>
          <p:cNvSpPr txBox="1"/>
          <p:nvPr/>
        </p:nvSpPr>
        <p:spPr>
          <a:xfrm>
            <a:off x="4389120" y="3538728"/>
            <a:ext cx="77521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04068"/>
                </a:solidFill>
                <a:latin typeface="Aptos"/>
              </a:rPr>
              <a:t>FinDER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959352"/>
            <a:ext cx="3044952" cy="9130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19">
                <a:solidFill>
                  <a:srgbClr val="232B32"/>
                </a:solidFill>
                <a:latin typeface="Aptos"/>
              </a:defRPr>
            </a:pPr>
            <a:r>
              <a:rPr sz="1400"/>
              <a:t>•  5,703 expert-annotated query-evidence-answer triplets.</a:t>
            </a:r>
          </a:p>
          <a:p>
            <a:pPr>
              <a:spcAft>
                <a:spcPts val="400"/>
              </a:spcAft>
              <a:defRPr sz="1019">
                <a:solidFill>
                  <a:srgbClr val="232B32"/>
                </a:solidFill>
                <a:latin typeface="Aptos"/>
              </a:defRPr>
            </a:pPr>
            <a:r>
              <a:rPr sz="1400"/>
              <a:t>•  Useful for retrieval and evidence-grounded QA evaluation.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3429000"/>
            <a:ext cx="3794760" cy="1920240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4" name="Rectangle 23"/>
          <p:cNvSpPr/>
          <p:nvPr/>
        </p:nvSpPr>
        <p:spPr>
          <a:xfrm>
            <a:off x="7772400" y="3429000"/>
            <a:ext cx="73152" cy="1920240"/>
          </a:xfrm>
          <a:prstGeom prst="rect">
            <a:avLst/>
          </a:prstGeom>
          <a:solidFill>
            <a:srgbClr val="2B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5" name="TextBox 24"/>
          <p:cNvSpPr txBox="1"/>
          <p:nvPr/>
        </p:nvSpPr>
        <p:spPr>
          <a:xfrm>
            <a:off x="7973568" y="3538728"/>
            <a:ext cx="113563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04068"/>
                </a:solidFill>
                <a:latin typeface="Aptos"/>
              </a:rPr>
              <a:t>SEC EDGAR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3959352"/>
            <a:ext cx="3410712" cy="11798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19">
                <a:solidFill>
                  <a:srgbClr val="232B32"/>
                </a:solidFill>
                <a:latin typeface="Aptos"/>
              </a:defRPr>
            </a:pPr>
            <a:r>
              <a:rPr sz="1400"/>
              <a:t>•  U.S. SEC electronic filing system.</a:t>
            </a:r>
          </a:p>
          <a:p>
            <a:pPr>
              <a:spcAft>
                <a:spcPts val="400"/>
              </a:spcAft>
              <a:defRPr sz="1019">
                <a:solidFill>
                  <a:srgbClr val="232B32"/>
                </a:solidFill>
                <a:latin typeface="Aptos"/>
              </a:defRPr>
            </a:pPr>
            <a:r>
              <a:rPr sz="1400"/>
              <a:t>•  Public corporate filings such as 10-K and 10-Q.</a:t>
            </a:r>
          </a:p>
          <a:p>
            <a:pPr>
              <a:spcAft>
                <a:spcPts val="400"/>
              </a:spcAft>
              <a:defRPr sz="1019">
                <a:solidFill>
                  <a:srgbClr val="232B32"/>
                </a:solidFill>
                <a:latin typeface="Aptos"/>
              </a:defRPr>
            </a:pPr>
            <a:r>
              <a:rPr sz="1400"/>
              <a:t>•  Primary source for the base-paper financial documents.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31880" y="6601968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C6974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04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2000" cy="32004"/>
          </a:xfrm>
          <a:prstGeom prst="rect">
            <a:avLst/>
          </a:prstGeom>
          <a:solidFill>
            <a:srgbClr val="17B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565392"/>
            <a:ext cx="11186160" cy="10972"/>
          </a:xfrm>
          <a:prstGeom prst="rect">
            <a:avLst/>
          </a:prstGeom>
          <a:solidFill>
            <a:srgbClr val="CD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1105814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dirty="0">
                <a:solidFill>
                  <a:srgbClr val="104068"/>
                </a:solidFill>
                <a:latin typeface="Aptos Display"/>
              </a:rPr>
              <a:t>Problem Statement in Existing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04672"/>
            <a:ext cx="110215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974"/>
                </a:solidFill>
                <a:latin typeface="Aptos"/>
              </a:rPr>
              <a:t>Gaps observed in current financial information-access workflows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3429000" cy="4160520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73152" cy="4160520"/>
          </a:xfrm>
          <a:prstGeom prst="rect">
            <a:avLst/>
          </a:prstGeom>
          <a:solidFill>
            <a:srgbClr val="00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344168"/>
            <a:ext cx="232409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04068"/>
                </a:solidFill>
                <a:latin typeface="Aptos"/>
              </a:rPr>
              <a:t>1. Retrieval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764792"/>
            <a:ext cx="3044952" cy="26161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40">
                <a:solidFill>
                  <a:srgbClr val="232B32"/>
                </a:solidFill>
                <a:latin typeface="Aptos"/>
              </a:defRPr>
            </a:pPr>
            <a:r>
              <a:rPr sz="1600" dirty="0"/>
              <a:t>•  Keyword search can miss semantic relationships.</a:t>
            </a:r>
          </a:p>
          <a:p>
            <a:pPr>
              <a:spcAft>
                <a:spcPts val="400"/>
              </a:spcAft>
              <a:defRPr sz="1040">
                <a:solidFill>
                  <a:srgbClr val="232B32"/>
                </a:solidFill>
                <a:latin typeface="Aptos"/>
              </a:defRPr>
            </a:pPr>
            <a:r>
              <a:rPr sz="1600" dirty="0"/>
              <a:t>•  Relevant evidence may be scattered across sections.</a:t>
            </a:r>
          </a:p>
          <a:p>
            <a:pPr>
              <a:spcAft>
                <a:spcPts val="400"/>
              </a:spcAft>
              <a:defRPr sz="1040">
                <a:solidFill>
                  <a:srgbClr val="232B32"/>
                </a:solidFill>
                <a:latin typeface="Aptos"/>
              </a:defRPr>
            </a:pPr>
            <a:r>
              <a:rPr sz="1600" dirty="0"/>
              <a:t>•  Exact financial terms, entities and values require precise matching.</a:t>
            </a:r>
          </a:p>
          <a:p>
            <a:pPr>
              <a:spcAft>
                <a:spcPts val="400"/>
              </a:spcAft>
              <a:defRPr sz="1040">
                <a:solidFill>
                  <a:srgbClr val="232B32"/>
                </a:solidFill>
                <a:latin typeface="Aptos"/>
              </a:defRPr>
            </a:pPr>
            <a:r>
              <a:rPr sz="1600" dirty="0"/>
              <a:t>•  Top-k retrieval can contain redundant or weakly related chunks.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87952" y="1234440"/>
            <a:ext cx="3429000" cy="4160520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87952" y="1234440"/>
            <a:ext cx="73152" cy="4160520"/>
          </a:xfrm>
          <a:prstGeom prst="rect">
            <a:avLst/>
          </a:prstGeom>
          <a:solidFill>
            <a:srgbClr val="DA7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344168"/>
            <a:ext cx="319318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04068"/>
                </a:solidFill>
                <a:latin typeface="Aptos"/>
              </a:rPr>
              <a:t>2. Document &amp; Table Challenges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764792"/>
            <a:ext cx="3044952" cy="21236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40">
                <a:solidFill>
                  <a:srgbClr val="232B32"/>
                </a:solidFill>
                <a:latin typeface="Aptos"/>
              </a:defRPr>
            </a:pPr>
            <a:r>
              <a:rPr sz="1600"/>
              <a:t>•  Financial statements contain structured tables.</a:t>
            </a:r>
          </a:p>
          <a:p>
            <a:pPr>
              <a:spcAft>
                <a:spcPts val="400"/>
              </a:spcAft>
              <a:defRPr sz="1040">
                <a:solidFill>
                  <a:srgbClr val="232B32"/>
                </a:solidFill>
                <a:latin typeface="Aptos"/>
              </a:defRPr>
            </a:pPr>
            <a:r>
              <a:rPr sz="1600"/>
              <a:t>•  Plain-text extraction may break row/column relationships.</a:t>
            </a:r>
          </a:p>
          <a:p>
            <a:pPr>
              <a:spcAft>
                <a:spcPts val="400"/>
              </a:spcAft>
              <a:defRPr sz="1040">
                <a:solidFill>
                  <a:srgbClr val="232B32"/>
                </a:solidFill>
                <a:latin typeface="Aptos"/>
              </a:defRPr>
            </a:pPr>
            <a:r>
              <a:rPr sz="1600"/>
              <a:t>•  Page, section and table context can be lost.</a:t>
            </a:r>
          </a:p>
          <a:p>
            <a:pPr>
              <a:spcAft>
                <a:spcPts val="400"/>
              </a:spcAft>
              <a:defRPr sz="1040">
                <a:solidFill>
                  <a:srgbClr val="232B32"/>
                </a:solidFill>
                <a:latin typeface="Aptos"/>
              </a:defRPr>
            </a:pPr>
            <a:r>
              <a:rPr sz="1600"/>
              <a:t>•  Static ingestion makes continuous updates difficult.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81544" y="1234440"/>
            <a:ext cx="3794760" cy="4160520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81544" y="1234440"/>
            <a:ext cx="73152" cy="4160520"/>
          </a:xfrm>
          <a:prstGeom prst="rect">
            <a:avLst/>
          </a:prstGeom>
          <a:solidFill>
            <a:srgbClr val="2B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82712" y="1344168"/>
            <a:ext cx="357886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04068"/>
                </a:solidFill>
                <a:latin typeface="Aptos"/>
              </a:rPr>
              <a:t>3. Generation &amp; Usability Challenges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2712" y="1764792"/>
            <a:ext cx="3410712" cy="21236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40">
                <a:solidFill>
                  <a:srgbClr val="232B32"/>
                </a:solidFill>
                <a:latin typeface="Aptos"/>
              </a:defRPr>
            </a:pPr>
            <a:r>
              <a:rPr sz="1600"/>
              <a:t>•  LLM answers may be unsupported or hallucinated.</a:t>
            </a:r>
          </a:p>
          <a:p>
            <a:pPr>
              <a:spcAft>
                <a:spcPts val="400"/>
              </a:spcAft>
              <a:defRPr sz="1040">
                <a:solidFill>
                  <a:srgbClr val="232B32"/>
                </a:solidFill>
                <a:latin typeface="Aptos"/>
              </a:defRPr>
            </a:pPr>
            <a:r>
              <a:rPr sz="1600"/>
              <a:t>•  Citations may not point to exact evidence.</a:t>
            </a:r>
          </a:p>
          <a:p>
            <a:pPr>
              <a:spcAft>
                <a:spcPts val="400"/>
              </a:spcAft>
              <a:defRPr sz="1040">
                <a:solidFill>
                  <a:srgbClr val="232B32"/>
                </a:solidFill>
                <a:latin typeface="Aptos"/>
              </a:defRPr>
            </a:pPr>
            <a:r>
              <a:rPr sz="1600"/>
              <a:t>•  Complex questions may require multiple retrieval steps.</a:t>
            </a:r>
          </a:p>
          <a:p>
            <a:pPr>
              <a:spcAft>
                <a:spcPts val="400"/>
              </a:spcAft>
              <a:defRPr sz="1040">
                <a:solidFill>
                  <a:srgbClr val="232B32"/>
                </a:solidFill>
                <a:latin typeface="Aptos"/>
              </a:defRPr>
            </a:pPr>
            <a:r>
              <a:rPr sz="1600"/>
              <a:t>•  High retrieval/generation latency reduces practical usability.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31880" y="6601968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C6974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04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2000" cy="32004"/>
          </a:xfrm>
          <a:prstGeom prst="rect">
            <a:avLst/>
          </a:prstGeom>
          <a:solidFill>
            <a:srgbClr val="17B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565392"/>
            <a:ext cx="11186160" cy="10972"/>
          </a:xfrm>
          <a:prstGeom prst="rect">
            <a:avLst/>
          </a:prstGeom>
          <a:solidFill>
            <a:srgbClr val="CD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1105814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04068"/>
                </a:solidFill>
                <a:latin typeface="Aptos Display"/>
              </a:rPr>
              <a:t>Proposed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04672"/>
            <a:ext cx="110215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974"/>
                </a:solidFill>
                <a:latin typeface="Aptos"/>
              </a:rPr>
              <a:t>FinRAG AI — integrated Financial RAG + Transaction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481328"/>
            <a:ext cx="1691640" cy="2057400"/>
          </a:xfrm>
          <a:prstGeom prst="roundRect">
            <a:avLst/>
          </a:prstGeom>
          <a:solidFill>
            <a:srgbClr val="F9FBFD"/>
          </a:solidFill>
          <a:ln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93776" y="1600200"/>
            <a:ext cx="347472" cy="347472"/>
          </a:xfrm>
          <a:prstGeom prst="ellipse">
            <a:avLst/>
          </a:prstGeom>
          <a:solidFill>
            <a:srgbClr val="00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554480"/>
            <a:ext cx="120898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104068"/>
                </a:solidFill>
                <a:latin typeface="Aptos"/>
              </a:rPr>
              <a:t>Document </a:t>
            </a:r>
            <a:br>
              <a:rPr lang="en-US" sz="1600" b="1" dirty="0">
                <a:solidFill>
                  <a:srgbClr val="104068"/>
                </a:solidFill>
                <a:latin typeface="Aptos"/>
              </a:rPr>
            </a:br>
            <a:r>
              <a:rPr sz="1600" b="1" dirty="0">
                <a:solidFill>
                  <a:srgbClr val="104068"/>
                </a:solidFill>
                <a:latin typeface="Aptos"/>
              </a:rPr>
              <a:t>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048256"/>
            <a:ext cx="141732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232B32"/>
                </a:solidFill>
                <a:latin typeface="Aptos"/>
              </a:rPr>
              <a:t>SEC EDGAR + financial reports + proposed BSE/NSE sources</a:t>
            </a:r>
          </a:p>
        </p:txBody>
      </p:sp>
      <p:sp>
        <p:nvSpPr>
          <p:cNvPr id="11" name="Chevron 10"/>
          <p:cNvSpPr/>
          <p:nvPr/>
        </p:nvSpPr>
        <p:spPr>
          <a:xfrm>
            <a:off x="2093976" y="2267712"/>
            <a:ext cx="164592" cy="438912"/>
          </a:xfrm>
          <a:prstGeom prst="chevron">
            <a:avLst/>
          </a:prstGeom>
          <a:solidFill>
            <a:srgbClr val="17B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Rounded Rectangle 11"/>
          <p:cNvSpPr/>
          <p:nvPr/>
        </p:nvSpPr>
        <p:spPr>
          <a:xfrm>
            <a:off x="2304288" y="1481328"/>
            <a:ext cx="1691640" cy="2057400"/>
          </a:xfrm>
          <a:prstGeom prst="roundRect">
            <a:avLst/>
          </a:prstGeom>
          <a:solidFill>
            <a:srgbClr val="F9FBFD"/>
          </a:solidFill>
          <a:ln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414016" y="1600200"/>
            <a:ext cx="347472" cy="347472"/>
          </a:xfrm>
          <a:prstGeom prst="ellipse">
            <a:avLst/>
          </a:prstGeom>
          <a:solidFill>
            <a:srgbClr val="00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8" y="1528828"/>
            <a:ext cx="121270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104068"/>
                </a:solidFill>
                <a:latin typeface="Aptos"/>
              </a:rPr>
              <a:t>Document </a:t>
            </a:r>
            <a:br>
              <a:rPr lang="en-US" sz="1600" b="1" dirty="0">
                <a:solidFill>
                  <a:srgbClr val="104068"/>
                </a:solidFill>
                <a:latin typeface="Aptos"/>
              </a:rPr>
            </a:br>
            <a:r>
              <a:rPr sz="1600" b="1" dirty="0">
                <a:solidFill>
                  <a:srgbClr val="104068"/>
                </a:solidFill>
                <a:latin typeface="Aptos"/>
              </a:rPr>
              <a:t>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1448" y="2048256"/>
            <a:ext cx="14173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B32"/>
                </a:solidFill>
                <a:latin typeface="Aptos"/>
              </a:rPr>
              <a:t>Parsing • metadata • table-aware chunking</a:t>
            </a:r>
          </a:p>
        </p:txBody>
      </p:sp>
      <p:sp>
        <p:nvSpPr>
          <p:cNvPr id="16" name="Chevron 15"/>
          <p:cNvSpPr/>
          <p:nvPr/>
        </p:nvSpPr>
        <p:spPr>
          <a:xfrm>
            <a:off x="4014216" y="2267712"/>
            <a:ext cx="164592" cy="438912"/>
          </a:xfrm>
          <a:prstGeom prst="chevron">
            <a:avLst/>
          </a:prstGeom>
          <a:solidFill>
            <a:srgbClr val="17B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" name="Rounded Rectangle 16"/>
          <p:cNvSpPr/>
          <p:nvPr/>
        </p:nvSpPr>
        <p:spPr>
          <a:xfrm>
            <a:off x="4224528" y="1481328"/>
            <a:ext cx="1691640" cy="2057400"/>
          </a:xfrm>
          <a:prstGeom prst="roundRect">
            <a:avLst/>
          </a:prstGeom>
          <a:solidFill>
            <a:srgbClr val="F9FBFD"/>
          </a:solidFill>
          <a:ln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334256" y="1600200"/>
            <a:ext cx="347472" cy="347472"/>
          </a:xfrm>
          <a:prstGeom prst="ellipse">
            <a:avLst/>
          </a:prstGeom>
          <a:solidFill>
            <a:srgbClr val="00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1510540"/>
            <a:ext cx="978153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 dirty="0">
                <a:solidFill>
                  <a:srgbClr val="104068"/>
                </a:solidFill>
                <a:latin typeface="Aptos"/>
              </a:rPr>
              <a:t>Query </a:t>
            </a:r>
            <a:br>
              <a:rPr lang="en-US" sz="1150" b="1" dirty="0">
                <a:solidFill>
                  <a:srgbClr val="104068"/>
                </a:solidFill>
                <a:latin typeface="Aptos"/>
              </a:rPr>
            </a:br>
            <a:r>
              <a:rPr sz="1150" b="1" dirty="0">
                <a:solidFill>
                  <a:srgbClr val="104068"/>
                </a:solidFill>
                <a:latin typeface="Aptos"/>
              </a:rPr>
              <a:t>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2048256"/>
            <a:ext cx="141732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B32"/>
                </a:solidFill>
                <a:latin typeface="Aptos"/>
              </a:rPr>
              <a:t>NER • HyDE/query expansion • query decomposition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5934456" y="2267712"/>
            <a:ext cx="164592" cy="438912"/>
          </a:xfrm>
          <a:prstGeom prst="chevron">
            <a:avLst/>
          </a:prstGeom>
          <a:solidFill>
            <a:srgbClr val="17B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2" name="Rounded Rectangle 21"/>
          <p:cNvSpPr/>
          <p:nvPr/>
        </p:nvSpPr>
        <p:spPr>
          <a:xfrm>
            <a:off x="6144768" y="1481328"/>
            <a:ext cx="1691640" cy="2057400"/>
          </a:xfrm>
          <a:prstGeom prst="roundRect">
            <a:avLst/>
          </a:prstGeom>
          <a:solidFill>
            <a:srgbClr val="F9FBFD"/>
          </a:solidFill>
          <a:ln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254496" y="1600200"/>
            <a:ext cx="347472" cy="347472"/>
          </a:xfrm>
          <a:prstGeom prst="ellipse">
            <a:avLst/>
          </a:prstGeom>
          <a:solidFill>
            <a:srgbClr val="00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5127" y="1549274"/>
            <a:ext cx="101854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104068"/>
                </a:solidFill>
                <a:latin typeface="Aptos"/>
              </a:rPr>
              <a:t>Hybrid </a:t>
            </a:r>
            <a:br>
              <a:rPr lang="en-US" sz="1600" b="1" dirty="0">
                <a:solidFill>
                  <a:srgbClr val="104068"/>
                </a:solidFill>
                <a:latin typeface="Aptos"/>
              </a:rPr>
            </a:br>
            <a:r>
              <a:rPr sz="1600" b="1" dirty="0">
                <a:solidFill>
                  <a:srgbClr val="104068"/>
                </a:solidFill>
                <a:latin typeface="Aptos"/>
              </a:rPr>
              <a:t>Retrieval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2048256"/>
            <a:ext cx="14173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B32"/>
                </a:solidFill>
                <a:latin typeface="Aptos"/>
              </a:rPr>
              <a:t>Dense vectors + BM25 + metadata filters</a:t>
            </a:r>
          </a:p>
        </p:txBody>
      </p:sp>
      <p:sp>
        <p:nvSpPr>
          <p:cNvPr id="26" name="Chevron 25"/>
          <p:cNvSpPr/>
          <p:nvPr/>
        </p:nvSpPr>
        <p:spPr>
          <a:xfrm>
            <a:off x="7854696" y="2267712"/>
            <a:ext cx="164592" cy="438912"/>
          </a:xfrm>
          <a:prstGeom prst="chevron">
            <a:avLst/>
          </a:prstGeom>
          <a:solidFill>
            <a:srgbClr val="17B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7" name="Rounded Rectangle 26"/>
          <p:cNvSpPr/>
          <p:nvPr/>
        </p:nvSpPr>
        <p:spPr>
          <a:xfrm>
            <a:off x="8065008" y="1481328"/>
            <a:ext cx="1691640" cy="2057400"/>
          </a:xfrm>
          <a:prstGeom prst="roundRect">
            <a:avLst/>
          </a:prstGeom>
          <a:solidFill>
            <a:srgbClr val="F9FBFD"/>
          </a:solidFill>
          <a:ln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174736" y="1600200"/>
            <a:ext cx="347472" cy="347472"/>
          </a:xfrm>
          <a:prstGeom prst="ellipse">
            <a:avLst/>
          </a:prstGeom>
          <a:solidFill>
            <a:srgbClr val="00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8" y="1627632"/>
            <a:ext cx="111633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104068"/>
                </a:solidFill>
                <a:latin typeface="Aptos"/>
              </a:rPr>
              <a:t>Reranking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2168" y="2048256"/>
            <a:ext cx="14173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B32"/>
                </a:solidFill>
                <a:latin typeface="Aptos"/>
              </a:rPr>
              <a:t>Cross-encoder relevance scoring</a:t>
            </a:r>
          </a:p>
        </p:txBody>
      </p:sp>
      <p:sp>
        <p:nvSpPr>
          <p:cNvPr id="31" name="Chevron 30"/>
          <p:cNvSpPr/>
          <p:nvPr/>
        </p:nvSpPr>
        <p:spPr>
          <a:xfrm>
            <a:off x="9774936" y="2267712"/>
            <a:ext cx="164592" cy="438912"/>
          </a:xfrm>
          <a:prstGeom prst="chevron">
            <a:avLst/>
          </a:prstGeom>
          <a:solidFill>
            <a:srgbClr val="17B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2" name="Rounded Rectangle 31"/>
          <p:cNvSpPr/>
          <p:nvPr/>
        </p:nvSpPr>
        <p:spPr>
          <a:xfrm>
            <a:off x="9985248" y="1481328"/>
            <a:ext cx="1691640" cy="2057400"/>
          </a:xfrm>
          <a:prstGeom prst="roundRect">
            <a:avLst/>
          </a:prstGeom>
          <a:solidFill>
            <a:srgbClr val="F9FBFD"/>
          </a:solidFill>
          <a:ln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94976" y="1600200"/>
            <a:ext cx="347472" cy="347472"/>
          </a:xfrm>
          <a:prstGeom prst="ellipse">
            <a:avLst/>
          </a:prstGeom>
          <a:solidFill>
            <a:srgbClr val="2B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42448" y="1565404"/>
            <a:ext cx="122405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104068"/>
                </a:solidFill>
                <a:latin typeface="Aptos"/>
              </a:rPr>
              <a:t>Grounded </a:t>
            </a:r>
            <a:br>
              <a:rPr lang="en-US" sz="1600" b="1" dirty="0">
                <a:solidFill>
                  <a:srgbClr val="104068"/>
                </a:solidFill>
                <a:latin typeface="Aptos"/>
              </a:rPr>
            </a:br>
            <a:r>
              <a:rPr sz="1600" b="1" dirty="0">
                <a:solidFill>
                  <a:srgbClr val="104068"/>
                </a:solidFill>
                <a:latin typeface="Aptos"/>
              </a:rPr>
              <a:t>Generation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22408" y="2048256"/>
            <a:ext cx="14173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B32"/>
                </a:solidFill>
                <a:latin typeface="Aptos"/>
              </a:rPr>
              <a:t>LLM answer + precise citations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3886200"/>
            <a:ext cx="5349240" cy="1417320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94360" y="3886200"/>
            <a:ext cx="73152" cy="1417320"/>
          </a:xfrm>
          <a:prstGeom prst="rect">
            <a:avLst/>
          </a:prstGeom>
          <a:solidFill>
            <a:srgbClr val="2B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95528" y="3995928"/>
            <a:ext cx="308969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04068"/>
                </a:solidFill>
                <a:latin typeface="Aptos"/>
              </a:rPr>
              <a:t>Transaction Intelligence Engine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" y="4416552"/>
            <a:ext cx="4965192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19">
                <a:solidFill>
                  <a:srgbClr val="232B32"/>
                </a:solidFill>
                <a:latin typeface="Aptos"/>
              </a:defRPr>
            </a:pPr>
            <a:r>
              <a:rPr sz="1600"/>
              <a:t>•  Transaction analysis • anomaly detection • risk scoring • alerts • investigation dashboard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3886200"/>
            <a:ext cx="5349240" cy="1417320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72200" y="3886200"/>
            <a:ext cx="73152" cy="1417320"/>
          </a:xfrm>
          <a:prstGeom prst="rect">
            <a:avLst/>
          </a:prstGeom>
          <a:solidFill>
            <a:srgbClr val="17B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73368" y="3995928"/>
            <a:ext cx="155523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04068"/>
                </a:solidFill>
                <a:latin typeface="Aptos"/>
              </a:rPr>
              <a:t>Unified Output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3368" y="4416552"/>
            <a:ext cx="4965192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19">
                <a:solidFill>
                  <a:srgbClr val="232B32"/>
                </a:solidFill>
                <a:latin typeface="Aptos"/>
              </a:defRPr>
            </a:pPr>
            <a:r>
              <a:rPr sz="1600"/>
              <a:t>•  Evidence-grounded answers • citations • risk insights • analyst-facing dashboard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31880" y="6601968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C6974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04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2000" cy="32004"/>
          </a:xfrm>
          <a:prstGeom prst="rect">
            <a:avLst/>
          </a:prstGeom>
          <a:solidFill>
            <a:srgbClr val="17B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565392"/>
            <a:ext cx="11186160" cy="10972"/>
          </a:xfrm>
          <a:prstGeom prst="rect">
            <a:avLst/>
          </a:prstGeom>
          <a:solidFill>
            <a:srgbClr val="CD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1105814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04068"/>
                </a:solidFill>
                <a:latin typeface="Aptos Display"/>
              </a:rP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04672"/>
            <a:ext cx="110215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974"/>
                </a:solidFill>
                <a:latin typeface="Aptos"/>
              </a:rPr>
              <a:t>Specific goals of the proposed system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306824"/>
            <a:ext cx="5349240" cy="841248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2" name="Rectangle 31"/>
          <p:cNvSpPr/>
          <p:nvPr/>
        </p:nvSpPr>
        <p:spPr>
          <a:xfrm>
            <a:off x="594360" y="4306824"/>
            <a:ext cx="73152" cy="841248"/>
          </a:xfrm>
          <a:prstGeom prst="rect">
            <a:avLst/>
          </a:prstGeom>
          <a:solidFill>
            <a:srgbClr val="2B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4" name="TextBox 33"/>
          <p:cNvSpPr txBox="1"/>
          <p:nvPr/>
        </p:nvSpPr>
        <p:spPr>
          <a:xfrm>
            <a:off x="822960" y="4654296"/>
            <a:ext cx="4965192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80">
                <a:solidFill>
                  <a:srgbClr val="232B32"/>
                </a:solidFill>
                <a:latin typeface="Aptos"/>
              </a:defRPr>
            </a:pPr>
            <a:r>
              <a:rPr sz="1400" dirty="0"/>
              <a:t>•  Introduce transaction anomaly detection and risk scoring as complementary intelligence.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4306824"/>
            <a:ext cx="5349240" cy="841248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6" name="Rectangle 35"/>
          <p:cNvSpPr/>
          <p:nvPr/>
        </p:nvSpPr>
        <p:spPr>
          <a:xfrm>
            <a:off x="6126480" y="4306824"/>
            <a:ext cx="73152" cy="841248"/>
          </a:xfrm>
          <a:prstGeom prst="rect">
            <a:avLst/>
          </a:prstGeom>
          <a:solidFill>
            <a:srgbClr val="2B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5349240" cy="841248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73152" cy="841248"/>
          </a:xfrm>
          <a:prstGeom prst="rect">
            <a:avLst/>
          </a:prstGeom>
          <a:solidFill>
            <a:srgbClr val="00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/>
          <p:cNvSpPr txBox="1"/>
          <p:nvPr/>
        </p:nvSpPr>
        <p:spPr>
          <a:xfrm>
            <a:off x="795528" y="1258299"/>
            <a:ext cx="109985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104068"/>
                </a:solidFill>
                <a:latin typeface="Aptos"/>
              </a:rPr>
              <a:t>Objective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619381"/>
            <a:ext cx="4965192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80">
                <a:solidFill>
                  <a:srgbClr val="232B32"/>
                </a:solidFill>
                <a:latin typeface="Aptos"/>
              </a:defRPr>
            </a:pPr>
            <a:r>
              <a:rPr sz="1400" dirty="0"/>
              <a:t>•  Develop a financial-domain RAG pipeline for grounded question answering.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234440"/>
            <a:ext cx="5349240" cy="841248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2" name="Rectangle 11"/>
          <p:cNvSpPr/>
          <p:nvPr/>
        </p:nvSpPr>
        <p:spPr>
          <a:xfrm>
            <a:off x="6126480" y="1234440"/>
            <a:ext cx="73152" cy="841248"/>
          </a:xfrm>
          <a:prstGeom prst="rect">
            <a:avLst/>
          </a:prstGeom>
          <a:solidFill>
            <a:srgbClr val="00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3" name="TextBox 12"/>
          <p:cNvSpPr txBox="1"/>
          <p:nvPr/>
        </p:nvSpPr>
        <p:spPr>
          <a:xfrm>
            <a:off x="6327648" y="1344168"/>
            <a:ext cx="109985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04068"/>
                </a:solidFill>
                <a:latin typeface="Aptos"/>
              </a:rPr>
              <a:t>Objective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1619380"/>
            <a:ext cx="4965192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80">
                <a:solidFill>
                  <a:srgbClr val="232B32"/>
                </a:solidFill>
                <a:latin typeface="Aptos"/>
              </a:defRPr>
            </a:pPr>
            <a:r>
              <a:rPr sz="1400" dirty="0"/>
              <a:t>•  Improve retrieval relevance using metadata-aware hybrid search.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" y="2182297"/>
            <a:ext cx="5349240" cy="841248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6" name="Rectangle 15"/>
          <p:cNvSpPr/>
          <p:nvPr/>
        </p:nvSpPr>
        <p:spPr>
          <a:xfrm>
            <a:off x="594360" y="2182297"/>
            <a:ext cx="73152" cy="841248"/>
          </a:xfrm>
          <a:prstGeom prst="rect">
            <a:avLst/>
          </a:prstGeom>
          <a:solidFill>
            <a:srgbClr val="00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7" name="TextBox 16"/>
          <p:cNvSpPr txBox="1"/>
          <p:nvPr/>
        </p:nvSpPr>
        <p:spPr>
          <a:xfrm>
            <a:off x="795528" y="2220063"/>
            <a:ext cx="109985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104068"/>
                </a:solidFill>
                <a:latin typeface="Aptos"/>
              </a:rPr>
              <a:t>Objective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2580620"/>
            <a:ext cx="4965192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80">
                <a:solidFill>
                  <a:srgbClr val="232B32"/>
                </a:solidFill>
                <a:latin typeface="Aptos"/>
              </a:defRPr>
            </a:pPr>
            <a:r>
              <a:rPr sz="1400" dirty="0"/>
              <a:t>•  Preserve financial table structure during document processing and retrieval.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258568"/>
            <a:ext cx="5349240" cy="841248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0" name="Rectangle 19"/>
          <p:cNvSpPr/>
          <p:nvPr/>
        </p:nvSpPr>
        <p:spPr>
          <a:xfrm>
            <a:off x="6126480" y="2258568"/>
            <a:ext cx="73152" cy="841248"/>
          </a:xfrm>
          <a:prstGeom prst="rect">
            <a:avLst/>
          </a:prstGeom>
          <a:solidFill>
            <a:srgbClr val="00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1" name="TextBox 20"/>
          <p:cNvSpPr txBox="1"/>
          <p:nvPr/>
        </p:nvSpPr>
        <p:spPr>
          <a:xfrm>
            <a:off x="6327648" y="2281318"/>
            <a:ext cx="109985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104068"/>
                </a:solidFill>
                <a:latin typeface="Aptos"/>
              </a:rPr>
              <a:t>Objective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2618636"/>
            <a:ext cx="4965192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80">
                <a:solidFill>
                  <a:srgbClr val="232B32"/>
                </a:solidFill>
                <a:latin typeface="Aptos"/>
              </a:defRPr>
            </a:pPr>
            <a:r>
              <a:rPr sz="1400" dirty="0"/>
              <a:t>•  Support multi-hop questions using query decomposition and evidence chaining.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282696"/>
            <a:ext cx="5349240" cy="841248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4" name="Rectangle 23"/>
          <p:cNvSpPr/>
          <p:nvPr/>
        </p:nvSpPr>
        <p:spPr>
          <a:xfrm>
            <a:off x="594360" y="3282696"/>
            <a:ext cx="73152" cy="841248"/>
          </a:xfrm>
          <a:prstGeom prst="rect">
            <a:avLst/>
          </a:prstGeom>
          <a:solidFill>
            <a:srgbClr val="00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5" name="TextBox 24"/>
          <p:cNvSpPr txBox="1"/>
          <p:nvPr/>
        </p:nvSpPr>
        <p:spPr>
          <a:xfrm>
            <a:off x="785810" y="3314353"/>
            <a:ext cx="109985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104068"/>
                </a:solidFill>
                <a:latin typeface="Aptos"/>
              </a:rPr>
              <a:t>Objective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3703320"/>
            <a:ext cx="496519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80">
                <a:solidFill>
                  <a:srgbClr val="232B32"/>
                </a:solidFill>
                <a:latin typeface="Aptos"/>
              </a:defRPr>
            </a:pPr>
            <a:r>
              <a:rPr sz="1400" dirty="0"/>
              <a:t>•  Generate precise page/section/table citations for traceability.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3282696"/>
            <a:ext cx="5349240" cy="841248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8" name="Rectangle 27"/>
          <p:cNvSpPr/>
          <p:nvPr/>
        </p:nvSpPr>
        <p:spPr>
          <a:xfrm>
            <a:off x="6126480" y="3282696"/>
            <a:ext cx="73152" cy="841248"/>
          </a:xfrm>
          <a:prstGeom prst="rect">
            <a:avLst/>
          </a:prstGeom>
          <a:solidFill>
            <a:srgbClr val="00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9" name="TextBox 28"/>
          <p:cNvSpPr txBox="1"/>
          <p:nvPr/>
        </p:nvSpPr>
        <p:spPr>
          <a:xfrm>
            <a:off x="6317930" y="3289597"/>
            <a:ext cx="109985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104068"/>
                </a:solidFill>
                <a:latin typeface="Aptos"/>
              </a:rPr>
              <a:t>Objective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667637"/>
            <a:ext cx="4965192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80">
                <a:solidFill>
                  <a:srgbClr val="232B32"/>
                </a:solidFill>
                <a:latin typeface="Aptos"/>
              </a:defRPr>
            </a:pPr>
            <a:r>
              <a:rPr sz="1400" dirty="0"/>
              <a:t>•  Extend ingestion toward Indian financial documents and BSE/NSE sources.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280" y="4346519"/>
            <a:ext cx="109985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104068"/>
                </a:solidFill>
                <a:latin typeface="Aptos"/>
              </a:rPr>
              <a:t>Objective 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8504" y="4364807"/>
            <a:ext cx="109985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104068"/>
                </a:solidFill>
                <a:latin typeface="Aptos"/>
              </a:rPr>
              <a:t>Objective 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4684391"/>
            <a:ext cx="4965192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80">
                <a:solidFill>
                  <a:srgbClr val="232B32"/>
                </a:solidFill>
                <a:latin typeface="Aptos"/>
              </a:defRPr>
            </a:pPr>
            <a:r>
              <a:rPr sz="1400" dirty="0"/>
              <a:t>•  Optimize latency, caching and retrieval efficiency for practical deployment.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31880" y="6601968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C6974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04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2000" cy="32004"/>
          </a:xfrm>
          <a:prstGeom prst="rect">
            <a:avLst/>
          </a:prstGeom>
          <a:solidFill>
            <a:srgbClr val="17B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565392"/>
            <a:ext cx="11186160" cy="10972"/>
          </a:xfrm>
          <a:prstGeom prst="rect">
            <a:avLst/>
          </a:prstGeom>
          <a:solidFill>
            <a:srgbClr val="CD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1105814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04068"/>
                </a:solidFill>
                <a:latin typeface="Aptos Display"/>
              </a:rPr>
              <a:t>Project 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04672"/>
            <a:ext cx="110215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974"/>
                </a:solidFill>
                <a:latin typeface="Aptos"/>
              </a:rPr>
              <a:t>Interdisciplinary foundation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2606040" cy="3977639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73152" cy="3977639"/>
          </a:xfrm>
          <a:prstGeom prst="rect">
            <a:avLst/>
          </a:prstGeom>
          <a:solidFill>
            <a:srgbClr val="00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435608"/>
            <a:ext cx="212397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04068"/>
                </a:solidFill>
                <a:latin typeface="Aptos"/>
              </a:rPr>
              <a:t>Artificial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856232"/>
            <a:ext cx="2221992" cy="19287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19">
                <a:solidFill>
                  <a:srgbClr val="232B32"/>
                </a:solidFill>
                <a:latin typeface="Aptos"/>
              </a:defRPr>
            </a:pPr>
            <a:r>
              <a:rPr sz="1600" dirty="0"/>
              <a:t>•  Large Language Models</a:t>
            </a:r>
          </a:p>
          <a:p>
            <a:pPr>
              <a:spcAft>
                <a:spcPts val="400"/>
              </a:spcAft>
              <a:defRPr sz="1019">
                <a:solidFill>
                  <a:srgbClr val="232B32"/>
                </a:solidFill>
                <a:latin typeface="Aptos"/>
              </a:defRPr>
            </a:pPr>
            <a:r>
              <a:rPr sz="1600" dirty="0"/>
              <a:t>•  Machine Learning</a:t>
            </a:r>
          </a:p>
          <a:p>
            <a:pPr>
              <a:spcAft>
                <a:spcPts val="400"/>
              </a:spcAft>
              <a:defRPr sz="1019">
                <a:solidFill>
                  <a:srgbClr val="232B32"/>
                </a:solidFill>
                <a:latin typeface="Aptos"/>
              </a:defRPr>
            </a:pPr>
            <a:r>
              <a:rPr sz="1600" dirty="0"/>
              <a:t>•  Anomaly Detection</a:t>
            </a:r>
          </a:p>
          <a:p>
            <a:pPr>
              <a:spcAft>
                <a:spcPts val="400"/>
              </a:spcAft>
              <a:defRPr sz="1019">
                <a:solidFill>
                  <a:srgbClr val="232B32"/>
                </a:solidFill>
                <a:latin typeface="Aptos"/>
              </a:defRPr>
            </a:pPr>
            <a:r>
              <a:rPr sz="1600" dirty="0"/>
              <a:t>•  Decision Support</a:t>
            </a:r>
          </a:p>
          <a:p>
            <a:pPr>
              <a:spcAft>
                <a:spcPts val="400"/>
              </a:spcAft>
              <a:defRPr sz="1019">
                <a:solidFill>
                  <a:srgbClr val="232B32"/>
                </a:solidFill>
                <a:latin typeface="Aptos"/>
              </a:defRPr>
            </a:pPr>
            <a:r>
              <a:rPr sz="1600" dirty="0"/>
              <a:t>•  Model-assisted reasoning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27832" y="1325880"/>
            <a:ext cx="2606040" cy="3977639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27832" y="1325880"/>
            <a:ext cx="73152" cy="3977639"/>
          </a:xfrm>
          <a:prstGeom prst="rect">
            <a:avLst/>
          </a:prstGeom>
          <a:solidFill>
            <a:srgbClr val="17B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1435608"/>
            <a:ext cx="5645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04068"/>
                </a:solidFill>
                <a:latin typeface="Aptos"/>
              </a:rPr>
              <a:t>NLP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856232"/>
            <a:ext cx="2221992" cy="1682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19">
                <a:solidFill>
                  <a:srgbClr val="232B32"/>
                </a:solidFill>
                <a:latin typeface="Aptos"/>
              </a:defRPr>
            </a:pPr>
            <a:r>
              <a:rPr sz="1600"/>
              <a:t>•  Query understanding</a:t>
            </a:r>
          </a:p>
          <a:p>
            <a:pPr>
              <a:spcAft>
                <a:spcPts val="400"/>
              </a:spcAft>
              <a:defRPr sz="1019">
                <a:solidFill>
                  <a:srgbClr val="232B32"/>
                </a:solidFill>
                <a:latin typeface="Aptos"/>
              </a:defRPr>
            </a:pPr>
            <a:r>
              <a:rPr sz="1600"/>
              <a:t>•  Named Entity Recognition</a:t>
            </a:r>
          </a:p>
          <a:p>
            <a:pPr>
              <a:spcAft>
                <a:spcPts val="400"/>
              </a:spcAft>
              <a:defRPr sz="1019">
                <a:solidFill>
                  <a:srgbClr val="232B32"/>
                </a:solidFill>
                <a:latin typeface="Aptos"/>
              </a:defRPr>
            </a:pPr>
            <a:r>
              <a:rPr sz="1600"/>
              <a:t>•  Query expansion</a:t>
            </a:r>
          </a:p>
          <a:p>
            <a:pPr>
              <a:spcAft>
                <a:spcPts val="400"/>
              </a:spcAft>
              <a:defRPr sz="1019">
                <a:solidFill>
                  <a:srgbClr val="232B32"/>
                </a:solidFill>
                <a:latin typeface="Aptos"/>
              </a:defRPr>
            </a:pPr>
            <a:r>
              <a:rPr sz="1600"/>
              <a:t>•  Semantic similarity</a:t>
            </a:r>
          </a:p>
          <a:p>
            <a:pPr>
              <a:spcAft>
                <a:spcPts val="400"/>
              </a:spcAft>
              <a:defRPr sz="1019">
                <a:solidFill>
                  <a:srgbClr val="232B32"/>
                </a:solidFill>
                <a:latin typeface="Aptos"/>
              </a:defRPr>
            </a:pPr>
            <a:r>
              <a:rPr sz="1600"/>
              <a:t>•  Question answering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52744" y="1325880"/>
            <a:ext cx="2606040" cy="3977639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52744" y="1325880"/>
            <a:ext cx="73152" cy="3977639"/>
          </a:xfrm>
          <a:prstGeom prst="rect">
            <a:avLst/>
          </a:prstGeom>
          <a:solidFill>
            <a:srgbClr val="2B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53912" y="1435608"/>
            <a:ext cx="22219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04068"/>
                </a:solidFill>
                <a:latin typeface="Aptos"/>
              </a:rPr>
              <a:t>Information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1856232"/>
            <a:ext cx="2221992" cy="1682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19">
                <a:solidFill>
                  <a:srgbClr val="232B32"/>
                </a:solidFill>
                <a:latin typeface="Aptos"/>
              </a:defRPr>
            </a:pPr>
            <a:r>
              <a:rPr sz="1600"/>
              <a:t>•  Embeddings</a:t>
            </a:r>
          </a:p>
          <a:p>
            <a:pPr>
              <a:spcAft>
                <a:spcPts val="400"/>
              </a:spcAft>
              <a:defRPr sz="1019">
                <a:solidFill>
                  <a:srgbClr val="232B32"/>
                </a:solidFill>
                <a:latin typeface="Aptos"/>
              </a:defRPr>
            </a:pPr>
            <a:r>
              <a:rPr sz="1600"/>
              <a:t>•  Vector search</a:t>
            </a:r>
          </a:p>
          <a:p>
            <a:pPr>
              <a:spcAft>
                <a:spcPts val="400"/>
              </a:spcAft>
              <a:defRPr sz="1019">
                <a:solidFill>
                  <a:srgbClr val="232B32"/>
                </a:solidFill>
                <a:latin typeface="Aptos"/>
              </a:defRPr>
            </a:pPr>
            <a:r>
              <a:rPr sz="1600"/>
              <a:t>•  BM25</a:t>
            </a:r>
          </a:p>
          <a:p>
            <a:pPr>
              <a:spcAft>
                <a:spcPts val="400"/>
              </a:spcAft>
              <a:defRPr sz="1019">
                <a:solidFill>
                  <a:srgbClr val="232B32"/>
                </a:solidFill>
                <a:latin typeface="Aptos"/>
              </a:defRPr>
            </a:pPr>
            <a:r>
              <a:rPr sz="1600"/>
              <a:t>•  Hybrid retrieval</a:t>
            </a:r>
          </a:p>
          <a:p>
            <a:pPr>
              <a:spcAft>
                <a:spcPts val="400"/>
              </a:spcAft>
              <a:defRPr sz="1019">
                <a:solidFill>
                  <a:srgbClr val="232B32"/>
                </a:solidFill>
                <a:latin typeface="Aptos"/>
              </a:defRPr>
            </a:pPr>
            <a:r>
              <a:rPr sz="1600"/>
              <a:t>•  Cross-encoder reranking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77656" y="1325880"/>
            <a:ext cx="2606040" cy="3977639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677656" y="1325880"/>
            <a:ext cx="73152" cy="3977639"/>
          </a:xfrm>
          <a:prstGeom prst="rect">
            <a:avLst/>
          </a:prstGeom>
          <a:solidFill>
            <a:srgbClr val="DA7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78824" y="1435608"/>
            <a:ext cx="89332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04068"/>
                </a:solidFill>
                <a:latin typeface="Aptos"/>
              </a:rPr>
              <a:t>FinTech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856232"/>
            <a:ext cx="2221992" cy="1682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19">
                <a:solidFill>
                  <a:srgbClr val="232B32"/>
                </a:solidFill>
                <a:latin typeface="Aptos"/>
              </a:defRPr>
            </a:pPr>
            <a:r>
              <a:rPr sz="1600"/>
              <a:t>•  Financial filings</a:t>
            </a:r>
          </a:p>
          <a:p>
            <a:pPr>
              <a:spcAft>
                <a:spcPts val="400"/>
              </a:spcAft>
              <a:defRPr sz="1019">
                <a:solidFill>
                  <a:srgbClr val="232B32"/>
                </a:solidFill>
                <a:latin typeface="Aptos"/>
              </a:defRPr>
            </a:pPr>
            <a:r>
              <a:rPr sz="1600"/>
              <a:t>•  Financial QA</a:t>
            </a:r>
          </a:p>
          <a:p>
            <a:pPr>
              <a:spcAft>
                <a:spcPts val="400"/>
              </a:spcAft>
              <a:defRPr sz="1019">
                <a:solidFill>
                  <a:srgbClr val="232B32"/>
                </a:solidFill>
                <a:latin typeface="Aptos"/>
              </a:defRPr>
            </a:pPr>
            <a:r>
              <a:rPr sz="1600"/>
              <a:t>•  Risk analysis</a:t>
            </a:r>
          </a:p>
          <a:p>
            <a:pPr>
              <a:spcAft>
                <a:spcPts val="400"/>
              </a:spcAft>
              <a:defRPr sz="1019">
                <a:solidFill>
                  <a:srgbClr val="232B32"/>
                </a:solidFill>
                <a:latin typeface="Aptos"/>
              </a:defRPr>
            </a:pPr>
            <a:r>
              <a:rPr sz="1600"/>
              <a:t>•  Compliance support</a:t>
            </a:r>
          </a:p>
          <a:p>
            <a:pPr>
              <a:spcAft>
                <a:spcPts val="400"/>
              </a:spcAft>
              <a:defRPr sz="1019">
                <a:solidFill>
                  <a:srgbClr val="232B32"/>
                </a:solidFill>
                <a:latin typeface="Aptos"/>
              </a:defRPr>
            </a:pPr>
            <a:r>
              <a:rPr sz="1600"/>
              <a:t>•  Transaction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31880" y="6601968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C6974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04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2000" cy="32004"/>
          </a:xfrm>
          <a:prstGeom prst="rect">
            <a:avLst/>
          </a:prstGeom>
          <a:solidFill>
            <a:srgbClr val="17B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565392"/>
            <a:ext cx="11186160" cy="10972"/>
          </a:xfrm>
          <a:prstGeom prst="rect">
            <a:avLst/>
          </a:prstGeom>
          <a:solidFill>
            <a:srgbClr val="CD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1105814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04068"/>
                </a:solidFill>
                <a:latin typeface="Aptos Display"/>
              </a:rPr>
              <a:t>Requirement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04672"/>
            <a:ext cx="110215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974"/>
                </a:solidFill>
                <a:latin typeface="Aptos"/>
              </a:rPr>
              <a:t>Functional, non-functional, software and hardware requirements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440680" cy="1874519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73152" cy="1874519"/>
          </a:xfrm>
          <a:prstGeom prst="rect">
            <a:avLst/>
          </a:prstGeom>
          <a:solidFill>
            <a:srgbClr val="00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298448"/>
            <a:ext cx="224939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04068"/>
                </a:solidFill>
                <a:latin typeface="Aptos"/>
              </a:rPr>
              <a:t>Functional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719072"/>
            <a:ext cx="5056632" cy="12824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69">
                <a:solidFill>
                  <a:srgbClr val="232B32"/>
                </a:solidFill>
                <a:latin typeface="Aptos"/>
              </a:defRPr>
            </a:pPr>
            <a:r>
              <a:rPr sz="1400"/>
              <a:t>•  Ingest financial documents and metadata.</a:t>
            </a:r>
          </a:p>
          <a:p>
            <a:pPr>
              <a:spcAft>
                <a:spcPts val="400"/>
              </a:spcAft>
              <a:defRPr sz="969">
                <a:solidFill>
                  <a:srgbClr val="232B32"/>
                </a:solidFill>
                <a:latin typeface="Aptos"/>
              </a:defRPr>
            </a:pPr>
            <a:r>
              <a:rPr sz="1400"/>
              <a:t>•  Parse text and tables while preserving structure.</a:t>
            </a:r>
          </a:p>
          <a:p>
            <a:pPr>
              <a:spcAft>
                <a:spcPts val="400"/>
              </a:spcAft>
              <a:defRPr sz="969">
                <a:solidFill>
                  <a:srgbClr val="232B32"/>
                </a:solidFill>
                <a:latin typeface="Aptos"/>
              </a:defRPr>
            </a:pPr>
            <a:r>
              <a:rPr sz="1400"/>
              <a:t>•  Create embeddings and searchable indexes.</a:t>
            </a:r>
          </a:p>
          <a:p>
            <a:pPr>
              <a:spcAft>
                <a:spcPts val="400"/>
              </a:spcAft>
              <a:defRPr sz="969">
                <a:solidFill>
                  <a:srgbClr val="232B32"/>
                </a:solidFill>
                <a:latin typeface="Aptos"/>
              </a:defRPr>
            </a:pPr>
            <a:r>
              <a:rPr sz="1400"/>
              <a:t>•  Retrieve, rerank and generate grounded answers.</a:t>
            </a:r>
          </a:p>
          <a:p>
            <a:pPr>
              <a:spcAft>
                <a:spcPts val="400"/>
              </a:spcAft>
              <a:defRPr sz="969">
                <a:solidFill>
                  <a:srgbClr val="232B32"/>
                </a:solidFill>
                <a:latin typeface="Aptos"/>
              </a:defRPr>
            </a:pPr>
            <a:r>
              <a:rPr sz="1400"/>
              <a:t>•  Return source citations and support transaction-risk analysis.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188720"/>
            <a:ext cx="5440680" cy="1874519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26480" y="1188720"/>
            <a:ext cx="73152" cy="1874519"/>
          </a:xfrm>
          <a:prstGeom prst="rect">
            <a:avLst/>
          </a:prstGeom>
          <a:solidFill>
            <a:srgbClr val="2B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27648" y="1298448"/>
            <a:ext cx="264694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04068"/>
                </a:solidFill>
                <a:latin typeface="Aptos"/>
              </a:rPr>
              <a:t>Non-Functional Requirements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1719072"/>
            <a:ext cx="5056632" cy="12824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69">
                <a:solidFill>
                  <a:srgbClr val="232B32"/>
                </a:solidFill>
                <a:latin typeface="Aptos"/>
              </a:defRPr>
            </a:pPr>
            <a:r>
              <a:rPr sz="1400"/>
              <a:t>•  High retrieval relevance and answer faithfulness.</a:t>
            </a:r>
          </a:p>
          <a:p>
            <a:pPr>
              <a:spcAft>
                <a:spcPts val="400"/>
              </a:spcAft>
              <a:defRPr sz="969">
                <a:solidFill>
                  <a:srgbClr val="232B32"/>
                </a:solidFill>
                <a:latin typeface="Aptos"/>
              </a:defRPr>
            </a:pPr>
            <a:r>
              <a:rPr sz="1400"/>
              <a:t>•  Low response latency and scalable indexing.</a:t>
            </a:r>
          </a:p>
          <a:p>
            <a:pPr>
              <a:spcAft>
                <a:spcPts val="400"/>
              </a:spcAft>
              <a:defRPr sz="969">
                <a:solidFill>
                  <a:srgbClr val="232B32"/>
                </a:solidFill>
                <a:latin typeface="Aptos"/>
              </a:defRPr>
            </a:pPr>
            <a:r>
              <a:rPr sz="1400"/>
              <a:t>•  Reliable document processing and traceability.</a:t>
            </a:r>
          </a:p>
          <a:p>
            <a:pPr>
              <a:spcAft>
                <a:spcPts val="400"/>
              </a:spcAft>
              <a:defRPr sz="969">
                <a:solidFill>
                  <a:srgbClr val="232B32"/>
                </a:solidFill>
                <a:latin typeface="Aptos"/>
              </a:defRPr>
            </a:pPr>
            <a:r>
              <a:rPr sz="1400"/>
              <a:t>•  Secure access, maintainability and usability.</a:t>
            </a:r>
          </a:p>
          <a:p>
            <a:pPr>
              <a:spcAft>
                <a:spcPts val="400"/>
              </a:spcAft>
              <a:defRPr sz="969">
                <a:solidFill>
                  <a:srgbClr val="232B32"/>
                </a:solidFill>
                <a:latin typeface="Aptos"/>
              </a:defRPr>
            </a:pPr>
            <a:r>
              <a:rPr sz="1400"/>
              <a:t>•  Caching and efficient resource utilization.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37560"/>
            <a:ext cx="5440680" cy="1965960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3337560"/>
            <a:ext cx="73152" cy="1965960"/>
          </a:xfrm>
          <a:prstGeom prst="rect">
            <a:avLst/>
          </a:prstGeom>
          <a:solidFill>
            <a:srgbClr val="17B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3447288"/>
            <a:ext cx="211000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04068"/>
                </a:solidFill>
                <a:latin typeface="Aptos"/>
              </a:rPr>
              <a:t>Software Requirements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867912"/>
            <a:ext cx="5056632" cy="12824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69">
                <a:solidFill>
                  <a:srgbClr val="232B32"/>
                </a:solidFill>
                <a:latin typeface="Aptos"/>
              </a:defRPr>
            </a:pPr>
            <a:r>
              <a:rPr sz="1400"/>
              <a:t>•  Frontend: React + TypeScript + Tailwind CSS.</a:t>
            </a:r>
          </a:p>
          <a:p>
            <a:pPr>
              <a:spcAft>
                <a:spcPts val="400"/>
              </a:spcAft>
              <a:defRPr sz="969">
                <a:solidFill>
                  <a:srgbClr val="232B32"/>
                </a:solidFill>
                <a:latin typeface="Aptos"/>
              </a:defRPr>
            </a:pPr>
            <a:r>
              <a:rPr sz="1400"/>
              <a:t>•  Backend: Python + FastAPI.</a:t>
            </a:r>
          </a:p>
          <a:p>
            <a:pPr>
              <a:spcAft>
                <a:spcPts val="400"/>
              </a:spcAft>
              <a:defRPr sz="969">
                <a:solidFill>
                  <a:srgbClr val="232B32"/>
                </a:solidFill>
                <a:latin typeface="Aptos"/>
              </a:defRPr>
            </a:pPr>
            <a:r>
              <a:rPr sz="1400"/>
              <a:t>•  RAG: LangChain; parsing: Docling.</a:t>
            </a:r>
          </a:p>
          <a:p>
            <a:pPr>
              <a:spcAft>
                <a:spcPts val="400"/>
              </a:spcAft>
              <a:defRPr sz="969">
                <a:solidFill>
                  <a:srgbClr val="232B32"/>
                </a:solidFill>
                <a:latin typeface="Aptos"/>
              </a:defRPr>
            </a:pPr>
            <a:r>
              <a:rPr sz="1400"/>
              <a:t>•  Vector DB: Qdrant; sparse retrieval: BM25.</a:t>
            </a:r>
          </a:p>
          <a:p>
            <a:pPr>
              <a:spcAft>
                <a:spcPts val="400"/>
              </a:spcAft>
              <a:defRPr sz="969">
                <a:solidFill>
                  <a:srgbClr val="232B32"/>
                </a:solidFill>
                <a:latin typeface="Aptos"/>
              </a:defRPr>
            </a:pPr>
            <a:r>
              <a:rPr sz="1400"/>
              <a:t>•  Reranker, LLM, Redis, database, Docker, Git/GitHub.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337560"/>
            <a:ext cx="5440680" cy="1965960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0" y="3337560"/>
            <a:ext cx="73152" cy="1965960"/>
          </a:xfrm>
          <a:prstGeom prst="rect">
            <a:avLst/>
          </a:prstGeom>
          <a:solidFill>
            <a:srgbClr val="DA7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27648" y="3447288"/>
            <a:ext cx="217386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04068"/>
                </a:solidFill>
                <a:latin typeface="Aptos"/>
              </a:rPr>
              <a:t>Hardware Requirements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3867912"/>
            <a:ext cx="5056632" cy="12824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69">
                <a:solidFill>
                  <a:srgbClr val="232B32"/>
                </a:solidFill>
                <a:latin typeface="Aptos"/>
              </a:defRPr>
            </a:pPr>
            <a:r>
              <a:rPr sz="1400"/>
              <a:t>•  Modern multi-core CPU and sufficient RAM for development.</a:t>
            </a:r>
          </a:p>
          <a:p>
            <a:pPr>
              <a:spcAft>
                <a:spcPts val="400"/>
              </a:spcAft>
              <a:defRPr sz="969">
                <a:solidFill>
                  <a:srgbClr val="232B32"/>
                </a:solidFill>
                <a:latin typeface="Aptos"/>
              </a:defRPr>
            </a:pPr>
            <a:r>
              <a:rPr sz="1400"/>
              <a:t>•  Adequate storage for document collections and indexes.</a:t>
            </a:r>
          </a:p>
          <a:p>
            <a:pPr>
              <a:spcAft>
                <a:spcPts val="400"/>
              </a:spcAft>
              <a:defRPr sz="969">
                <a:solidFill>
                  <a:srgbClr val="232B32"/>
                </a:solidFill>
                <a:latin typeface="Aptos"/>
              </a:defRPr>
            </a:pPr>
            <a:r>
              <a:rPr sz="1400"/>
              <a:t>•  GPU is beneficial for local model inference/ML workloads.</a:t>
            </a:r>
          </a:p>
          <a:p>
            <a:pPr>
              <a:spcAft>
                <a:spcPts val="400"/>
              </a:spcAft>
              <a:defRPr sz="969">
                <a:solidFill>
                  <a:srgbClr val="232B32"/>
                </a:solidFill>
                <a:latin typeface="Aptos"/>
              </a:defRPr>
            </a:pPr>
            <a:r>
              <a:rPr sz="1400"/>
              <a:t>•  Cloud compute can be used for scalable deployment.</a:t>
            </a:r>
          </a:p>
          <a:p>
            <a:pPr>
              <a:spcAft>
                <a:spcPts val="400"/>
              </a:spcAft>
              <a:defRPr sz="969">
                <a:solidFill>
                  <a:srgbClr val="232B32"/>
                </a:solidFill>
                <a:latin typeface="Aptos"/>
              </a:defRPr>
            </a:pPr>
            <a:r>
              <a:rPr sz="1400"/>
              <a:t>•  Stable network access for external model/data services.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31880" y="6601968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C6974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04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2000" cy="32004"/>
          </a:xfrm>
          <a:prstGeom prst="rect">
            <a:avLst/>
          </a:prstGeom>
          <a:solidFill>
            <a:srgbClr val="17B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565392"/>
            <a:ext cx="11186160" cy="10972"/>
          </a:xfrm>
          <a:prstGeom prst="rect">
            <a:avLst/>
          </a:prstGeom>
          <a:solidFill>
            <a:srgbClr val="CD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1105814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04068"/>
                </a:solidFill>
                <a:latin typeface="Aptos Display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04672"/>
            <a:ext cx="110215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974"/>
                </a:solidFill>
                <a:latin typeface="Aptos"/>
              </a:rPr>
              <a:t>Layered architecture for scalable financial intelligence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F09993C6-330E-A7CC-F4C2-420FBE9D0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04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2000" cy="32004"/>
          </a:xfrm>
          <a:prstGeom prst="rect">
            <a:avLst/>
          </a:prstGeom>
          <a:solidFill>
            <a:srgbClr val="17B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565392"/>
            <a:ext cx="11186160" cy="10972"/>
          </a:xfrm>
          <a:prstGeom prst="rect">
            <a:avLst/>
          </a:prstGeom>
          <a:solidFill>
            <a:srgbClr val="CD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1105814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04068"/>
                </a:solidFill>
                <a:latin typeface="Aptos Display"/>
              </a:rPr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6955" y="804672"/>
            <a:ext cx="4853328" cy="3262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974"/>
                </a:solidFill>
                <a:latin typeface="Aptos"/>
              </a:rPr>
              <a:t>End-to-end workflow from financial documents to evaluated answers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5525"/>
            <a:ext cx="3548137" cy="1378729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" name="Rectangle 7"/>
          <p:cNvSpPr/>
          <p:nvPr/>
        </p:nvSpPr>
        <p:spPr>
          <a:xfrm>
            <a:off x="502920" y="1235525"/>
            <a:ext cx="74698" cy="1378729"/>
          </a:xfrm>
          <a:prstGeom prst="rect">
            <a:avLst/>
          </a:prstGeom>
          <a:solidFill>
            <a:srgbClr val="00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" name="TextBox 8"/>
          <p:cNvSpPr txBox="1"/>
          <p:nvPr/>
        </p:nvSpPr>
        <p:spPr>
          <a:xfrm>
            <a:off x="708338" y="1364781"/>
            <a:ext cx="1306421" cy="3262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068"/>
                </a:solidFill>
                <a:latin typeface="Aptos"/>
              </a:rPr>
              <a:t>Data 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338" y="1860262"/>
            <a:ext cx="3155975" cy="6462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69">
                <a:solidFill>
                  <a:srgbClr val="232B32"/>
                </a:solidFill>
                <a:latin typeface="Aptos"/>
              </a:defRPr>
            </a:pPr>
            <a:r>
              <a:rPr sz="1200"/>
              <a:t>•  FinanceBench / FinDER for evaluation; SEC EDGAR and supported financial reports for knowledge sources.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7859" y="1235525"/>
            <a:ext cx="3548137" cy="1378729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2" name="Rectangle 11"/>
          <p:cNvSpPr/>
          <p:nvPr/>
        </p:nvSpPr>
        <p:spPr>
          <a:xfrm>
            <a:off x="4377859" y="1235525"/>
            <a:ext cx="74698" cy="1378729"/>
          </a:xfrm>
          <a:prstGeom prst="rect">
            <a:avLst/>
          </a:prstGeom>
          <a:solidFill>
            <a:srgbClr val="00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3" name="TextBox 12"/>
          <p:cNvSpPr txBox="1"/>
          <p:nvPr/>
        </p:nvSpPr>
        <p:spPr>
          <a:xfrm>
            <a:off x="4583278" y="1364781"/>
            <a:ext cx="1764876" cy="3262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068"/>
                </a:solidFill>
                <a:latin typeface="Aptos"/>
              </a:rPr>
              <a:t>Document 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3278" y="1860262"/>
            <a:ext cx="3155975" cy="4350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69">
                <a:solidFill>
                  <a:srgbClr val="232B32"/>
                </a:solidFill>
                <a:latin typeface="Aptos"/>
              </a:defRPr>
            </a:pPr>
            <a:r>
              <a:rPr sz="1200"/>
              <a:t>•  Parse documents, extract text/tables, clean content and preserve document hierarchy.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52799" y="1235525"/>
            <a:ext cx="3548137" cy="1378729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6" name="Rectangle 15"/>
          <p:cNvSpPr/>
          <p:nvPr/>
        </p:nvSpPr>
        <p:spPr>
          <a:xfrm>
            <a:off x="8252799" y="1235525"/>
            <a:ext cx="74698" cy="1378729"/>
          </a:xfrm>
          <a:prstGeom prst="rect">
            <a:avLst/>
          </a:prstGeom>
          <a:solidFill>
            <a:srgbClr val="00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7" name="TextBox 16"/>
          <p:cNvSpPr txBox="1"/>
          <p:nvPr/>
        </p:nvSpPr>
        <p:spPr>
          <a:xfrm>
            <a:off x="8458217" y="1364781"/>
            <a:ext cx="1699532" cy="3262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068"/>
                </a:solidFill>
                <a:latin typeface="Aptos"/>
              </a:rPr>
              <a:t>Metadata + Chunking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17" y="1860262"/>
            <a:ext cx="3155975" cy="4350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69">
                <a:solidFill>
                  <a:srgbClr val="232B32"/>
                </a:solidFill>
                <a:latin typeface="Aptos"/>
              </a:defRPr>
            </a:pPr>
            <a:r>
              <a:rPr sz="1200"/>
              <a:t>•  Generate metadata-rich chunks; retain page, section and table context.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82F5A2B-4042-8AB7-1831-211740F9DE28}"/>
              </a:ext>
            </a:extLst>
          </p:cNvPr>
          <p:cNvGrpSpPr/>
          <p:nvPr/>
        </p:nvGrpSpPr>
        <p:grpSpPr>
          <a:xfrm>
            <a:off x="502918" y="3157237"/>
            <a:ext cx="11298016" cy="1378729"/>
            <a:chOff x="502920" y="2872766"/>
            <a:chExt cx="11298016" cy="1378729"/>
          </a:xfrm>
        </p:grpSpPr>
        <p:sp>
          <p:nvSpPr>
            <p:cNvPr id="19" name="Rounded Rectangle 18"/>
            <p:cNvSpPr/>
            <p:nvPr/>
          </p:nvSpPr>
          <p:spPr>
            <a:xfrm>
              <a:off x="502920" y="2872766"/>
              <a:ext cx="3548137" cy="1378729"/>
            </a:xfrm>
            <a:prstGeom prst="roundRect">
              <a:avLst/>
            </a:prstGeom>
            <a:solidFill>
              <a:srgbClr val="F9FBFD"/>
            </a:solidFill>
            <a:ln w="12700">
              <a:solidFill>
                <a:srgbClr val="CDDA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02920" y="2872766"/>
              <a:ext cx="74698" cy="1378729"/>
            </a:xfrm>
            <a:prstGeom prst="rect">
              <a:avLst/>
            </a:prstGeom>
            <a:solidFill>
              <a:srgbClr val="0091C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08338" y="3002022"/>
              <a:ext cx="1749425" cy="32629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200" b="1">
                  <a:solidFill>
                    <a:srgbClr val="104068"/>
                  </a:solidFill>
                  <a:latin typeface="Aptos"/>
                </a:rPr>
                <a:t>Embedding + Indexing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08338" y="3497503"/>
              <a:ext cx="3155975" cy="43506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spcAft>
                  <a:spcPts val="400"/>
                </a:spcAft>
                <a:defRPr sz="869">
                  <a:solidFill>
                    <a:srgbClr val="232B32"/>
                  </a:solidFill>
                  <a:latin typeface="Aptos"/>
                </a:defRPr>
              </a:pPr>
              <a:r>
                <a:rPr sz="1200"/>
                <a:t>•  Create dense embeddings and store vectors plus metadata for fast retrieval.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4377859" y="2872766"/>
              <a:ext cx="3548137" cy="1378729"/>
            </a:xfrm>
            <a:prstGeom prst="roundRect">
              <a:avLst/>
            </a:prstGeom>
            <a:solidFill>
              <a:srgbClr val="F9FBFD"/>
            </a:solidFill>
            <a:ln w="12700">
              <a:solidFill>
                <a:srgbClr val="CDDA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377859" y="2872766"/>
              <a:ext cx="74698" cy="1378729"/>
            </a:xfrm>
            <a:prstGeom prst="rect">
              <a:avLst/>
            </a:prstGeom>
            <a:solidFill>
              <a:srgbClr val="0091C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583278" y="3002022"/>
              <a:ext cx="1443133" cy="32629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200" b="1" dirty="0">
                  <a:solidFill>
                    <a:srgbClr val="104068"/>
                  </a:solidFill>
                  <a:latin typeface="Aptos"/>
                </a:rPr>
                <a:t>Query Processing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583278" y="3497503"/>
              <a:ext cx="3155975" cy="43506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spcAft>
                  <a:spcPts val="400"/>
                </a:spcAft>
                <a:defRPr sz="869">
                  <a:solidFill>
                    <a:srgbClr val="232B32"/>
                  </a:solidFill>
                  <a:latin typeface="Aptos"/>
                </a:defRPr>
              </a:pPr>
              <a:r>
                <a:rPr sz="1200"/>
                <a:t>•  Identify entities; expand/rewrite query; decompose complex multi-hop questions.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8252799" y="2872766"/>
              <a:ext cx="3548137" cy="1378729"/>
            </a:xfrm>
            <a:prstGeom prst="roundRect">
              <a:avLst/>
            </a:prstGeom>
            <a:solidFill>
              <a:srgbClr val="F9FBFD"/>
            </a:solidFill>
            <a:ln w="12700">
              <a:solidFill>
                <a:srgbClr val="CDDA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8252799" y="2872766"/>
              <a:ext cx="74698" cy="1378729"/>
            </a:xfrm>
            <a:prstGeom prst="rect">
              <a:avLst/>
            </a:prstGeom>
            <a:solidFill>
              <a:srgbClr val="0091C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458217" y="3002022"/>
              <a:ext cx="1332153" cy="32629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200" b="1" dirty="0">
                  <a:solidFill>
                    <a:srgbClr val="104068"/>
                  </a:solidFill>
                  <a:latin typeface="Aptos"/>
                </a:rPr>
                <a:t>Hybrid Retrieval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458217" y="3497503"/>
              <a:ext cx="3155975" cy="43506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spcAft>
                  <a:spcPts val="400"/>
                </a:spcAft>
                <a:defRPr sz="869">
                  <a:solidFill>
                    <a:srgbClr val="232B32"/>
                  </a:solidFill>
                  <a:latin typeface="Aptos"/>
                </a:defRPr>
              </a:pPr>
              <a:r>
                <a:rPr sz="1200"/>
                <a:t>•  Combine semantic vector search, BM25 keyword search and metadata filtering.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A4B6CBF-F3AE-700F-AC1B-7E65DF49BE54}"/>
              </a:ext>
            </a:extLst>
          </p:cNvPr>
          <p:cNvGrpSpPr/>
          <p:nvPr/>
        </p:nvGrpSpPr>
        <p:grpSpPr>
          <a:xfrm>
            <a:off x="502919" y="5078950"/>
            <a:ext cx="11298016" cy="1378729"/>
            <a:chOff x="502920" y="4510007"/>
            <a:chExt cx="11298016" cy="1378729"/>
          </a:xfrm>
        </p:grpSpPr>
        <p:sp>
          <p:nvSpPr>
            <p:cNvPr id="31" name="Rounded Rectangle 30"/>
            <p:cNvSpPr/>
            <p:nvPr/>
          </p:nvSpPr>
          <p:spPr>
            <a:xfrm>
              <a:off x="502920" y="4510007"/>
              <a:ext cx="3548137" cy="1378729"/>
            </a:xfrm>
            <a:prstGeom prst="roundRect">
              <a:avLst/>
            </a:prstGeom>
            <a:solidFill>
              <a:srgbClr val="F9FBFD"/>
            </a:solidFill>
            <a:ln w="12700">
              <a:solidFill>
                <a:srgbClr val="CDDA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02920" y="4510007"/>
              <a:ext cx="74698" cy="1378729"/>
            </a:xfrm>
            <a:prstGeom prst="rect">
              <a:avLst/>
            </a:prstGeom>
            <a:solidFill>
              <a:srgbClr val="0091C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08338" y="4639263"/>
              <a:ext cx="904143" cy="32629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200" b="1">
                  <a:solidFill>
                    <a:srgbClr val="104068"/>
                  </a:solidFill>
                  <a:latin typeface="Aptos"/>
                </a:rPr>
                <a:t>Reranking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08338" y="5134743"/>
              <a:ext cx="3155975" cy="43506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spcAft>
                  <a:spcPts val="400"/>
                </a:spcAft>
                <a:defRPr sz="869">
                  <a:solidFill>
                    <a:srgbClr val="232B32"/>
                  </a:solidFill>
                  <a:latin typeface="Aptos"/>
                </a:defRPr>
              </a:pPr>
              <a:r>
                <a:rPr sz="1200"/>
                <a:t>•  Use a relevance model/cross-encoder to reorder candidate evidence.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4377859" y="4510007"/>
              <a:ext cx="3548137" cy="1378729"/>
            </a:xfrm>
            <a:prstGeom prst="roundRect">
              <a:avLst/>
            </a:prstGeom>
            <a:solidFill>
              <a:srgbClr val="F9FBFD"/>
            </a:solidFill>
            <a:ln w="12700">
              <a:solidFill>
                <a:srgbClr val="CDDA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4377859" y="4510007"/>
              <a:ext cx="74698" cy="1378729"/>
            </a:xfrm>
            <a:prstGeom prst="rect">
              <a:avLst/>
            </a:prstGeom>
            <a:solidFill>
              <a:srgbClr val="0091C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583278" y="4639263"/>
              <a:ext cx="1700449" cy="32629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200" b="1">
                  <a:solidFill>
                    <a:srgbClr val="104068"/>
                  </a:solidFill>
                  <a:latin typeface="Aptos"/>
                </a:rPr>
                <a:t>Context + Generation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583278" y="5134743"/>
              <a:ext cx="3155975" cy="64627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spcAft>
                  <a:spcPts val="400"/>
                </a:spcAft>
                <a:defRPr sz="869">
                  <a:solidFill>
                    <a:srgbClr val="232B32"/>
                  </a:solidFill>
                  <a:latin typeface="Aptos"/>
                </a:defRPr>
              </a:pPr>
              <a:r>
                <a:rPr sz="1200"/>
                <a:t>•  Assemble high-quality evidence and generate an answer grounded in retrieved context.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8252799" y="4510007"/>
              <a:ext cx="3548137" cy="1378729"/>
            </a:xfrm>
            <a:prstGeom prst="roundRect">
              <a:avLst/>
            </a:prstGeom>
            <a:solidFill>
              <a:srgbClr val="F9FBFD"/>
            </a:solidFill>
            <a:ln w="12700">
              <a:solidFill>
                <a:srgbClr val="CDDA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8252799" y="4510007"/>
              <a:ext cx="74698" cy="1378729"/>
            </a:xfrm>
            <a:prstGeom prst="rect">
              <a:avLst/>
            </a:prstGeom>
            <a:solidFill>
              <a:srgbClr val="2B7D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458217" y="4639263"/>
              <a:ext cx="1668693" cy="32629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200" b="1">
                  <a:solidFill>
                    <a:srgbClr val="104068"/>
                  </a:solidFill>
                  <a:latin typeface="Aptos"/>
                </a:rPr>
                <a:t>Citation + Evaluation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458217" y="5134743"/>
              <a:ext cx="3155975" cy="43506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spcAft>
                  <a:spcPts val="400"/>
                </a:spcAft>
                <a:defRPr sz="869">
                  <a:solidFill>
                    <a:srgbClr val="232B32"/>
                  </a:solidFill>
                  <a:latin typeface="Aptos"/>
                </a:defRPr>
              </a:pPr>
              <a:r>
                <a:rPr sz="1200"/>
                <a:t>•  Attach source references and evaluate retrieval, generation, latency and usability.</a:t>
              </a: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1231880" y="6601968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C6974"/>
                </a:solidFill>
                <a:latin typeface="Aptos"/>
              </a:rPr>
              <a:t>12</a:t>
            </a:r>
          </a:p>
        </p:txBody>
      </p:sp>
      <p:sp>
        <p:nvSpPr>
          <p:cNvPr id="47" name="Arrow: Chevron 46">
            <a:extLst>
              <a:ext uri="{FF2B5EF4-FFF2-40B4-BE49-F238E27FC236}">
                <a16:creationId xmlns:a16="http://schemas.microsoft.com/office/drawing/2014/main" id="{2276B8FE-21DA-F25E-1652-6CCD7070F16B}"/>
              </a:ext>
            </a:extLst>
          </p:cNvPr>
          <p:cNvSpPr/>
          <p:nvPr/>
        </p:nvSpPr>
        <p:spPr>
          <a:xfrm>
            <a:off x="4069732" y="1741838"/>
            <a:ext cx="326802" cy="354974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8" name="Arrow: Chevron 47">
            <a:extLst>
              <a:ext uri="{FF2B5EF4-FFF2-40B4-BE49-F238E27FC236}">
                <a16:creationId xmlns:a16="http://schemas.microsoft.com/office/drawing/2014/main" id="{12FA3A39-CE4F-0439-C82E-F879C33C7A3D}"/>
              </a:ext>
            </a:extLst>
          </p:cNvPr>
          <p:cNvSpPr/>
          <p:nvPr/>
        </p:nvSpPr>
        <p:spPr>
          <a:xfrm>
            <a:off x="7941733" y="1773842"/>
            <a:ext cx="326802" cy="354974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9" name="Arrow: Chevron 48">
            <a:extLst>
              <a:ext uri="{FF2B5EF4-FFF2-40B4-BE49-F238E27FC236}">
                <a16:creationId xmlns:a16="http://schemas.microsoft.com/office/drawing/2014/main" id="{62E2AD4F-A193-A45D-8B02-F0396FBF0460}"/>
              </a:ext>
            </a:extLst>
          </p:cNvPr>
          <p:cNvSpPr/>
          <p:nvPr/>
        </p:nvSpPr>
        <p:spPr>
          <a:xfrm>
            <a:off x="4051054" y="3685587"/>
            <a:ext cx="326802" cy="354974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Arrow: Chevron 49">
            <a:extLst>
              <a:ext uri="{FF2B5EF4-FFF2-40B4-BE49-F238E27FC236}">
                <a16:creationId xmlns:a16="http://schemas.microsoft.com/office/drawing/2014/main" id="{59221E6B-9AFB-1F7C-9A13-1F64F8AD1D98}"/>
              </a:ext>
            </a:extLst>
          </p:cNvPr>
          <p:cNvSpPr/>
          <p:nvPr/>
        </p:nvSpPr>
        <p:spPr>
          <a:xfrm>
            <a:off x="7925994" y="3669114"/>
            <a:ext cx="326802" cy="354974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1" name="Arrow: Chevron 50">
            <a:extLst>
              <a:ext uri="{FF2B5EF4-FFF2-40B4-BE49-F238E27FC236}">
                <a16:creationId xmlns:a16="http://schemas.microsoft.com/office/drawing/2014/main" id="{B1E52CAB-B6AC-508F-29EF-A3B9EDB5DAF8}"/>
              </a:ext>
            </a:extLst>
          </p:cNvPr>
          <p:cNvSpPr/>
          <p:nvPr/>
        </p:nvSpPr>
        <p:spPr>
          <a:xfrm>
            <a:off x="4065369" y="5620894"/>
            <a:ext cx="326802" cy="354974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Arrow: Chevron 51">
            <a:extLst>
              <a:ext uri="{FF2B5EF4-FFF2-40B4-BE49-F238E27FC236}">
                <a16:creationId xmlns:a16="http://schemas.microsoft.com/office/drawing/2014/main" id="{4A61DDBC-D4D5-C297-A1F4-B14E6E63C437}"/>
              </a:ext>
            </a:extLst>
          </p:cNvPr>
          <p:cNvSpPr/>
          <p:nvPr/>
        </p:nvSpPr>
        <p:spPr>
          <a:xfrm>
            <a:off x="7925994" y="5620894"/>
            <a:ext cx="326802" cy="354974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B614BCB6-5526-D633-6B1D-1BB7299CF144}"/>
              </a:ext>
            </a:extLst>
          </p:cNvPr>
          <p:cNvCxnSpPr>
            <a:stCxn id="15" idx="2"/>
            <a:endCxn id="19" idx="0"/>
          </p:cNvCxnSpPr>
          <p:nvPr/>
        </p:nvCxnSpPr>
        <p:spPr>
          <a:xfrm rot="5400000">
            <a:off x="5880437" y="-989195"/>
            <a:ext cx="542983" cy="774988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B4FE6265-1886-0744-B216-0FABEC0DE0E6}"/>
              </a:ext>
            </a:extLst>
          </p:cNvPr>
          <p:cNvCxnSpPr/>
          <p:nvPr/>
        </p:nvCxnSpPr>
        <p:spPr>
          <a:xfrm rot="5400000">
            <a:off x="5880433" y="908209"/>
            <a:ext cx="542983" cy="774988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D7B3E9-4DCC-F144-29F4-5C2744280FBE}"/>
              </a:ext>
            </a:extLst>
          </p:cNvPr>
          <p:cNvSpPr txBox="1"/>
          <p:nvPr/>
        </p:nvSpPr>
        <p:spPr>
          <a:xfrm>
            <a:off x="3048719" y="3105834"/>
            <a:ext cx="60945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52348220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616</TotalTime>
  <Words>1457</Words>
  <Application>Microsoft Office PowerPoint</Application>
  <PresentationFormat>Widescreen</PresentationFormat>
  <Paragraphs>216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Calibri Light</vt:lpstr>
      <vt:lpstr>Calisto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 Using Machine Learning.</dc:title>
  <dc:creator>Jitendra Sri T</dc:creator>
  <cp:lastModifiedBy>Jitendra Sri T</cp:lastModifiedBy>
  <cp:revision>83</cp:revision>
  <dcterms:created xsi:type="dcterms:W3CDTF">2021-05-22T09:16:38Z</dcterms:created>
  <dcterms:modified xsi:type="dcterms:W3CDTF">2026-09-10T09:52:38Z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2021-07-02T18:27:27Z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a45faa05-55e5-4ac1-8791-579d4098f2cd</vt:lpwstr>
  </property>
  <property fmtid="{D5CDD505-2E9C-101B-9397-08002B2CF9AE}" pid="8" name="MSIP_Label_ea60d57e-af5b-4752-ac57-3e4f28ca11dc_ContentBits">
    <vt:lpwstr>0</vt:lpwstr>
  </property>
</Properties>
</file>